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</p:sldMasterIdLst>
  <p:notesMasterIdLst>
    <p:notesMasterId r:id="rId15"/>
  </p:notesMasterIdLst>
  <p:handoutMasterIdLst>
    <p:handoutMasterId r:id="rId16"/>
  </p:handoutMasterIdLst>
  <p:sldIdLst>
    <p:sldId id="256" r:id="rId2"/>
    <p:sldId id="377" r:id="rId3"/>
    <p:sldId id="378" r:id="rId4"/>
    <p:sldId id="379" r:id="rId5"/>
    <p:sldId id="381" r:id="rId6"/>
    <p:sldId id="382" r:id="rId7"/>
    <p:sldId id="383" r:id="rId8"/>
    <p:sldId id="282" r:id="rId9"/>
    <p:sldId id="384" r:id="rId10"/>
    <p:sldId id="386" r:id="rId11"/>
    <p:sldId id="389" r:id="rId12"/>
    <p:sldId id="387" r:id="rId13"/>
    <p:sldId id="388" r:id="rId14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6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6FF66"/>
    <a:srgbClr val="00FF99"/>
    <a:srgbClr val="FF9966"/>
    <a:srgbClr val="FF9900"/>
    <a:srgbClr val="000099"/>
    <a:srgbClr val="FFFF00"/>
    <a:srgbClr val="FF0000"/>
    <a:srgbClr val="800000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8" autoAdjust="0"/>
    <p:restoredTop sz="94664" autoAdjust="0"/>
  </p:normalViewPr>
  <p:slideViewPr>
    <p:cSldViewPr>
      <p:cViewPr varScale="1">
        <p:scale>
          <a:sx n="106" d="100"/>
          <a:sy n="106" d="100"/>
        </p:scale>
        <p:origin x="1224" y="108"/>
      </p:cViewPr>
      <p:guideLst>
        <p:guide orient="horz" pos="2160"/>
        <p:guide pos="26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3DC3B08D-B24E-4D97-9417-D94B2914E2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058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443BAE99-EAFF-4995-8698-D887FF08B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133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7353676-36A6-4357-A617-6E74F2080573}" type="slidenum">
              <a:rPr lang="en-US" sz="1200"/>
              <a:pPr eaLnBrk="1" hangingPunct="1"/>
              <a:t>8</a:t>
            </a:fld>
            <a:endParaRPr lang="en-US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dirty="0"/>
              <a:t>Regression:</a:t>
            </a:r>
          </a:p>
          <a:p>
            <a:pPr>
              <a:buFontTx/>
              <a:buChar char="•"/>
            </a:pPr>
            <a:r>
              <a:rPr lang="en-US" dirty="0"/>
              <a:t>Parametrically summarize data points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A9D5A9-0987-4B90-8147-7877DDB75D48}" type="datetimeFigureOut">
              <a:rPr lang="en-US" smtClean="0"/>
              <a:pPr>
                <a:defRPr/>
              </a:pPr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5CBDE9-1132-4644-B667-E2EBFEEFEB9B}" type="slidenum">
              <a:rPr lang="en-US" smtClean="0"/>
              <a:pPr>
                <a:defRPr/>
              </a:pPr>
              <a:t>‹#›</a:t>
            </a:fld>
            <a:r>
              <a:rPr lang="en-US">
                <a:solidFill>
                  <a:schemeClr val="folHlink"/>
                </a:solidFill>
              </a:rPr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8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0E76CE-E4D9-4A58-B758-188EE546F05C}" type="datetimeFigureOut">
              <a:rPr lang="en-US" smtClean="0"/>
              <a:pPr>
                <a:defRPr/>
              </a:pPr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EF96F0-2A50-4497-801B-EDFC9899850C}" type="slidenum">
              <a:rPr lang="en-US" smtClean="0"/>
              <a:pPr>
                <a:defRPr/>
              </a:pPr>
              <a:t>‹#›</a:t>
            </a:fld>
            <a:r>
              <a:rPr lang="en-US">
                <a:solidFill>
                  <a:schemeClr val="folHlink"/>
                </a:solidFill>
              </a:rPr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23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6B4C-46D7-4913-A707-3FDAEBBB8601}" type="datetimeFigureOut">
              <a:rPr lang="en-US" smtClean="0"/>
              <a:pPr>
                <a:defRPr/>
              </a:pPr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9DBE49-9C2F-4D6F-BDE9-12C37EB1BDC6}" type="slidenum">
              <a:rPr lang="en-US" smtClean="0"/>
              <a:pPr>
                <a:defRPr/>
              </a:pPr>
              <a:t>‹#›</a:t>
            </a:fld>
            <a:r>
              <a:rPr lang="en-US">
                <a:solidFill>
                  <a:schemeClr val="folHlink"/>
                </a:solidFill>
              </a:rPr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87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892BFF-0312-4F90-B439-C19C205B165A}" type="datetimeFigureOut">
              <a:rPr lang="en-US" smtClean="0"/>
              <a:pPr>
                <a:defRPr/>
              </a:pPr>
              <a:t>9/28/2020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CC22E4-DBD9-4462-9140-11A24E742D06}" type="slidenum">
              <a:rPr lang="en-US" smtClean="0"/>
              <a:pPr>
                <a:defRPr/>
              </a:pPr>
              <a:t>‹#›</a:t>
            </a:fld>
            <a:r>
              <a:rPr lang="en-US">
                <a:solidFill>
                  <a:schemeClr val="folHlink"/>
                </a:solidFill>
              </a:rPr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6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8A4F7B-ACAA-4F1B-A7FE-476D2005570D}" type="datetimeFigureOut">
              <a:rPr lang="en-US" smtClean="0"/>
              <a:pPr>
                <a:defRPr/>
              </a:pPr>
              <a:t>9/28/2020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2178C6-64C5-45EA-BB76-465EF21B83A8}" type="slidenum">
              <a:rPr lang="en-US" smtClean="0"/>
              <a:pPr>
                <a:defRPr/>
              </a:pPr>
              <a:t>‹#›</a:t>
            </a:fld>
            <a:r>
              <a:rPr lang="en-US">
                <a:solidFill>
                  <a:schemeClr val="folHlink"/>
                </a:solidFill>
              </a:rPr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6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D6C931-83BF-4FC3-9A2B-56216C7D1F82}" type="datetimeFigureOut">
              <a:rPr lang="en-US" smtClean="0"/>
              <a:pPr>
                <a:defRPr/>
              </a:pPr>
              <a:t>9/28/2020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5834DB-18DA-47D6-95B8-F1B489308648}" type="slidenum">
              <a:rPr lang="en-US" smtClean="0"/>
              <a:pPr>
                <a:defRPr/>
              </a:pPr>
              <a:t>‹#›</a:t>
            </a:fld>
            <a:r>
              <a:rPr lang="en-US">
                <a:solidFill>
                  <a:schemeClr val="folHlink"/>
                </a:solidFill>
              </a:rPr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9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079AD6-A2A6-4929-BA65-F1F39A3C77C4}" type="datetimeFigureOut">
              <a:rPr lang="en-US" smtClean="0"/>
              <a:pPr>
                <a:defRPr/>
              </a:pPr>
              <a:t>9/28/2020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611FD7-2C39-45E5-BE4C-F576AFABE575}" type="slidenum">
              <a:rPr lang="en-US" smtClean="0"/>
              <a:pPr>
                <a:defRPr/>
              </a:pPr>
              <a:t>‹#›</a:t>
            </a:fld>
            <a:r>
              <a:rPr lang="en-US">
                <a:solidFill>
                  <a:schemeClr val="folHlink"/>
                </a:solidFill>
              </a:rPr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1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CE7839-0535-40D3-9434-8511315303E7}" type="datetimeFigureOut">
              <a:rPr lang="en-US" smtClean="0"/>
              <a:pPr>
                <a:defRPr/>
              </a:pPr>
              <a:t>9/28/2020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347CF2-021C-4E28-B849-A271AD1DC26C}" type="slidenum">
              <a:rPr lang="en-US" smtClean="0"/>
              <a:pPr>
                <a:defRPr/>
              </a:pPr>
              <a:t>‹#›</a:t>
            </a:fld>
            <a:r>
              <a:rPr lang="en-US">
                <a:solidFill>
                  <a:schemeClr val="folHlink"/>
                </a:solidFill>
              </a:rPr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58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0C2DA87-C211-4752-99CC-4C0F2AC3483A}" type="datetimeFigureOut">
              <a:rPr lang="en-US" smtClean="0"/>
              <a:pPr>
                <a:defRPr/>
              </a:pPr>
              <a:t>9/28/2020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5257BC-B396-436A-9C3D-390B610CA4AB}" type="slidenum">
              <a:rPr lang="en-US" smtClean="0"/>
              <a:pPr>
                <a:defRPr/>
              </a:pPr>
              <a:t>‹#›</a:t>
            </a:fld>
            <a:r>
              <a:rPr lang="en-US">
                <a:solidFill>
                  <a:schemeClr val="folHlink"/>
                </a:solidFill>
              </a:rPr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7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87E0C1-F573-4716-AF52-323402B32884}" type="datetimeFigureOut">
              <a:rPr lang="en-US" smtClean="0"/>
              <a:pPr>
                <a:defRPr/>
              </a:pPr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1F36E9-B4A2-46BA-97C4-B7D36B6AB106}" type="slidenum">
              <a:rPr lang="en-US" smtClean="0"/>
              <a:pPr>
                <a:defRPr/>
              </a:pPr>
              <a:t>‹#›</a:t>
            </a:fld>
            <a:r>
              <a:rPr lang="en-US">
                <a:solidFill>
                  <a:schemeClr val="folHlink"/>
                </a:solidFill>
              </a:rPr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89F57B-F7B1-4F8E-8E66-715F1E097216}" type="datetimeFigureOut">
              <a:rPr lang="en-US" smtClean="0"/>
              <a:pPr>
                <a:defRPr/>
              </a:pPr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E4DDDA-8930-4013-84AF-5093E352BEDB}" type="slidenum">
              <a:rPr lang="en-US" smtClean="0"/>
              <a:pPr>
                <a:defRPr/>
              </a:pPr>
              <a:t>‹#›</a:t>
            </a:fld>
            <a:r>
              <a:rPr lang="en-US">
                <a:solidFill>
                  <a:schemeClr val="folHlink"/>
                </a:solidFill>
              </a:rPr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6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44E572E-53B5-46CA-82C5-B8475F9ACF72}" type="datetimeFigureOut">
              <a:rPr lang="en-US" smtClean="0"/>
              <a:pPr>
                <a:defRPr/>
              </a:pPr>
              <a:t>9/28/2020</a:t>
            </a:fld>
            <a:endParaRPr lang="en-US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7BB7AB-EEF4-47A3-970F-D38CE00CE66B}" type="slidenum">
              <a:rPr lang="en-US" smtClean="0"/>
              <a:pPr>
                <a:defRPr/>
              </a:pPr>
              <a:t>‹#›</a:t>
            </a:fld>
            <a:r>
              <a:rPr lang="en-US">
                <a:solidFill>
                  <a:schemeClr val="folHlink"/>
                </a:solidFill>
              </a:rPr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09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wmf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4.jpeg"/><Relationship Id="rId4" Type="http://schemas.openxmlformats.org/officeDocument/2006/relationships/image" Target="../media/image12.png"/><Relationship Id="rId9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9">
            <a:extLst>
              <a:ext uri="{FF2B5EF4-FFF2-40B4-BE49-F238E27FC236}">
                <a16:creationId xmlns:a16="http://schemas.microsoft.com/office/drawing/2014/main" id="{347D6575-0B06-40B2-9D0F-298202F6B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2" name="Arc 141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133242" y="1149336"/>
            <a:ext cx="2987899" cy="2240924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69613" y="1370171"/>
            <a:ext cx="3814185" cy="2387600"/>
          </a:xfrm>
        </p:spPr>
        <p:txBody>
          <a:bodyPr>
            <a:normAutofit/>
          </a:bodyPr>
          <a:lstStyle/>
          <a:p>
            <a:pPr algn="l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700">
                <a:solidFill>
                  <a:schemeClr val="bg1"/>
                </a:solidFill>
              </a:rPr>
              <a:t>Basic Intro Tutorial on </a:t>
            </a:r>
            <a:br>
              <a:rPr lang="en-US" sz="3700">
                <a:solidFill>
                  <a:schemeClr val="bg1"/>
                </a:solidFill>
              </a:rPr>
            </a:br>
            <a:r>
              <a:rPr lang="en-US" sz="3700">
                <a:solidFill>
                  <a:schemeClr val="bg1"/>
                </a:solidFill>
              </a:rPr>
              <a:t>Machine Learning </a:t>
            </a:r>
            <a:br>
              <a:rPr lang="en-US" sz="3700">
                <a:solidFill>
                  <a:schemeClr val="bg1"/>
                </a:solidFill>
              </a:rPr>
            </a:br>
            <a:r>
              <a:rPr lang="en-US" sz="3700">
                <a:solidFill>
                  <a:schemeClr val="bg1"/>
                </a:solidFill>
              </a:rPr>
              <a:t>and Data Mining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69613" y="3849845"/>
            <a:ext cx="3814185" cy="1881751"/>
          </a:xfrm>
        </p:spPr>
        <p:txBody>
          <a:bodyPr>
            <a:normAutofit/>
          </a:bodyPr>
          <a:lstStyle/>
          <a:p>
            <a:pPr algn="l" fontAlgn="auto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en-US" sz="1500">
                <a:solidFill>
                  <a:schemeClr val="bg1"/>
                </a:solidFill>
              </a:rPr>
              <a:t>Prof. Carolina Ruiz</a:t>
            </a:r>
          </a:p>
          <a:p>
            <a:pPr algn="l" fontAlgn="auto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en-US" sz="1500">
                <a:solidFill>
                  <a:schemeClr val="bg1"/>
                </a:solidFill>
              </a:rPr>
              <a:t>Department of Computer Science </a:t>
            </a:r>
          </a:p>
          <a:p>
            <a:pPr algn="l" fontAlgn="auto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en-US" sz="1500">
                <a:solidFill>
                  <a:schemeClr val="bg1"/>
                </a:solidFill>
              </a:rPr>
              <a:t>WPI</a:t>
            </a:r>
          </a:p>
          <a:p>
            <a:pPr algn="l" fontAlgn="auto">
              <a:lnSpc>
                <a:spcPct val="90000"/>
              </a:lnSpc>
              <a:buFont typeface="Arial" pitchFamily="34" charset="0"/>
              <a:buNone/>
              <a:defRPr/>
            </a:pPr>
            <a:endParaRPr lang="en-US" sz="1500">
              <a:solidFill>
                <a:schemeClr val="bg1"/>
              </a:solidFill>
            </a:endParaRPr>
          </a:p>
          <a:p>
            <a:pPr algn="l" fontAlgn="auto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en-US" sz="1500">
                <a:solidFill>
                  <a:schemeClr val="bg1"/>
                </a:solidFill>
              </a:rPr>
              <a:t>Most figures and images in this presentation were obtained from Google Images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CF8AD9F3-9AF6-494F-83A3-2F6775639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62351" y="832686"/>
            <a:ext cx="828707" cy="10749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1004" r="26067" b="1"/>
          <a:stretch/>
        </p:blipFill>
        <p:spPr>
          <a:xfrm>
            <a:off x="4890644" y="795510"/>
            <a:ext cx="3853140" cy="5137520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146" name="Rectangle 145">
            <a:extLst>
              <a:ext uri="{FF2B5EF4-FFF2-40B4-BE49-F238E27FC236}">
                <a16:creationId xmlns:a16="http://schemas.microsoft.com/office/drawing/2014/main" id="{0DA5DB8B-7E5C-4ABC-8069-A9A8806F3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1615" y="4925384"/>
            <a:ext cx="657528" cy="876704"/>
          </a:xfrm>
          <a:prstGeom prst="rect">
            <a:avLst/>
          </a:prstGeom>
          <a:noFill/>
          <a:ln w="127000">
            <a:solidFill>
              <a:schemeClr val="accent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Reminder: What is AI?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200">
                <a:latin typeface="CMR17"/>
              </a:rPr>
              <a:t>There are many definitions of Artificial Intelligence. Two of them are: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CMR17"/>
              </a:rPr>
              <a:t>“AI as an attempt to understand intelligent entities and to build them“ (Russell and </a:t>
            </a:r>
            <a:r>
              <a:rPr lang="en-US" sz="2200" err="1">
                <a:latin typeface="CMR17"/>
              </a:rPr>
              <a:t>Norvig</a:t>
            </a:r>
            <a:r>
              <a:rPr lang="en-US" sz="2200">
                <a:latin typeface="CMR17"/>
              </a:rPr>
              <a:t>, 1995)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CMR17"/>
              </a:rPr>
              <a:t>"AI is the design and study of computer programs that behave intelligently" (Dean, Allen, and </a:t>
            </a:r>
            <a:r>
              <a:rPr lang="en-US" sz="2200" err="1">
                <a:latin typeface="CMR17"/>
              </a:rPr>
              <a:t>Aloimonos</a:t>
            </a:r>
            <a:r>
              <a:rPr lang="en-US" sz="2200">
                <a:latin typeface="CMR17"/>
              </a:rPr>
              <a:t>, 1995)</a:t>
            </a:r>
          </a:p>
          <a:p>
            <a:pPr marL="0" indent="0">
              <a:lnSpc>
                <a:spcPct val="90000"/>
              </a:lnSpc>
              <a:buNone/>
            </a:pPr>
            <a:endParaRPr lang="en-US" sz="2200">
              <a:latin typeface="CMSY1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200">
                <a:latin typeface="CMSY10"/>
              </a:rPr>
              <a:t>But </a:t>
            </a:r>
            <a:r>
              <a:rPr lang="en-US" sz="2200">
                <a:latin typeface="CMR17"/>
              </a:rPr>
              <a:t>what is an “intelligent entity" or what does it mean to “behave intelligently"?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CMR17"/>
              </a:rPr>
              <a:t>Intelligence is the degree of accomplishment exhibited by a system when performing a task" (Allen, AAAI97 invited lecture)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43515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IS AI? (Cont.)</a:t>
            </a:r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AI can be seen as an ensemble of ideas &amp; techniques for: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representing knowledge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using knowledge to solve problems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 with two goals: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Engineering Goal: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To solve real-world problems using AI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Scientific Goal: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To explain various sorts of intelligence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22350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108" y="0"/>
            <a:ext cx="349304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5871" y="3050434"/>
            <a:ext cx="2792200" cy="757130"/>
          </a:xfrm>
          <a:ln w="25400" cap="sq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AI? (cont.)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9010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8913" y="457200"/>
            <a:ext cx="3789799" cy="60655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C00000"/>
                </a:solidFill>
              </a:rPr>
              <a:t>Core AI:</a:t>
            </a:r>
          </a:p>
          <a:p>
            <a:pPr marL="0" indent="0">
              <a:buNone/>
            </a:pPr>
            <a:r>
              <a:rPr lang="en-US" sz="1800" b="1" dirty="0"/>
              <a:t>Knowledge Representation Techniques:</a:t>
            </a:r>
          </a:p>
          <a:p>
            <a:r>
              <a:rPr lang="en-US" sz="1800" dirty="0"/>
              <a:t>Semantic Nets, Rules, Propositional Logic, 1st Order Logic, Probability, . . 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Problem Solving Strategies:</a:t>
            </a:r>
          </a:p>
          <a:p>
            <a:pPr marL="0" indent="-228600"/>
            <a:r>
              <a:rPr lang="en-US" sz="1800" dirty="0"/>
              <a:t>Blind Search, Heuristic Search, Optimal Search,  Adversarial Search (Game Playing), Constraint Satisfaction, Logical Inference, Planning, Probabilistic Reasoning, . . .</a:t>
            </a:r>
          </a:p>
          <a:p>
            <a:pPr marL="0" indent="-228600"/>
            <a:endParaRPr lang="en-US" sz="1800" dirty="0"/>
          </a:p>
          <a:p>
            <a:pPr marL="0" indent="0">
              <a:buNone/>
            </a:pPr>
            <a:r>
              <a:rPr lang="en-US" sz="1800" b="1" u="sng" dirty="0">
                <a:solidFill>
                  <a:srgbClr val="C00000"/>
                </a:solidFill>
              </a:rPr>
              <a:t>AI Areas:</a:t>
            </a:r>
          </a:p>
          <a:p>
            <a:pPr indent="-228600"/>
            <a:r>
              <a:rPr lang="en-US" sz="1800" dirty="0"/>
              <a:t>Machine Learning </a:t>
            </a:r>
          </a:p>
          <a:p>
            <a:pPr indent="-228600"/>
            <a:r>
              <a:rPr lang="en-US" sz="1800" dirty="0"/>
              <a:t>Machine Vision</a:t>
            </a:r>
          </a:p>
          <a:p>
            <a:pPr indent="-228600"/>
            <a:r>
              <a:rPr lang="en-US" sz="1800" dirty="0"/>
              <a:t>Natural Language Processing (NLP)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0" y="5042915"/>
            <a:ext cx="574668" cy="367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700" dirty="0">
                <a:latin typeface="+mn-lt"/>
                <a:sym typeface="Wingdings" panose="05000000000000000000" pitchFamily="2" charset="2"/>
              </a:rPr>
              <a:t></a:t>
            </a:r>
            <a:endParaRPr lang="en-US" sz="17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681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4293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3125451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is Machine Learning?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800" i="1" dirty="0">
                <a:solidFill>
                  <a:srgbClr val="C00000"/>
                </a:solidFill>
              </a:rPr>
              <a:t>Writing computer programs that learn from experience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More precisely (Mitchell, 1997):</a:t>
            </a:r>
            <a:endParaRPr lang="en-US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Given:</a:t>
            </a:r>
          </a:p>
          <a:p>
            <a:pPr lvl="1">
              <a:lnSpc>
                <a:spcPct val="90000"/>
              </a:lnSpc>
            </a:pPr>
            <a:r>
              <a:rPr lang="en-US" sz="2400" i="1" dirty="0">
                <a:solidFill>
                  <a:srgbClr val="C00000"/>
                </a:solidFill>
              </a:rPr>
              <a:t>A class of tasks T 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(e.g., recognizing faces)</a:t>
            </a:r>
          </a:p>
          <a:p>
            <a:pPr lvl="1">
              <a:lnSpc>
                <a:spcPct val="90000"/>
              </a:lnSpc>
            </a:pPr>
            <a:r>
              <a:rPr lang="en-US" sz="2400" i="1" dirty="0">
                <a:solidFill>
                  <a:srgbClr val="C00000"/>
                </a:solidFill>
              </a:rPr>
              <a:t>A performance measure P</a:t>
            </a:r>
            <a:r>
              <a:rPr lang="en-US" sz="2400" i="1" dirty="0"/>
              <a:t> 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(e.g., accuracy)</a:t>
            </a:r>
          </a:p>
          <a:p>
            <a:pPr lvl="1">
              <a:lnSpc>
                <a:spcPct val="90000"/>
              </a:lnSpc>
            </a:pPr>
            <a:r>
              <a:rPr lang="en-US" sz="2400" i="1" dirty="0">
                <a:solidFill>
                  <a:srgbClr val="C00000"/>
                </a:solidFill>
              </a:rPr>
              <a:t>Training experience E 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(e.g., dataset of faces with names)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Write computer programs that can  learn from experience E to improve their performance, as measured by P,  on tasks in T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205674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39300" y="2131366"/>
            <a:ext cx="3152979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latin typeface="+mn-lt"/>
              </a:rPr>
              <a:t>Training experience</a:t>
            </a:r>
            <a:r>
              <a:rPr lang="en-US" dirty="0">
                <a:latin typeface="+mn-lt"/>
              </a:rPr>
              <a:t>:</a:t>
            </a:r>
          </a:p>
          <a:p>
            <a:r>
              <a:rPr lang="en-US" dirty="0">
                <a:latin typeface="+mn-lt"/>
              </a:rPr>
              <a:t>     </a:t>
            </a:r>
            <a:r>
              <a:rPr lang="en-US" sz="2000" dirty="0">
                <a:latin typeface="+mn-lt"/>
              </a:rPr>
              <a:t>face             teacher says</a:t>
            </a:r>
            <a:r>
              <a:rPr lang="en-US" dirty="0">
                <a:latin typeface="+mn-lt"/>
              </a:rPr>
              <a:t>: 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             yes  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         no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          yes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          no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Supervised  vs. Unsupervised Learning</a:t>
            </a:r>
            <a:br>
              <a:rPr lang="en-US" dirty="0"/>
            </a:br>
            <a:r>
              <a:rPr lang="en-US" sz="2200" dirty="0"/>
              <a:t>                      (e.g., automatic face recognition “doorman” ) </a:t>
            </a:r>
            <a:endParaRPr lang="en-US" sz="67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Supervisor or Teacher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No supervisor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309747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   </a:t>
            </a:r>
            <a:r>
              <a:rPr lang="en-US" u="sng" dirty="0"/>
              <a:t>Training Experience:</a:t>
            </a: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990600"/>
            <a:ext cx="1168400" cy="70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3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4" y="3048000"/>
            <a:ext cx="1017309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 descr="Z:\private\PictureShortBio\Carolina_Ruiz_Museum_2012_Head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480" y="5638800"/>
            <a:ext cx="696200" cy="84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985" y="2802889"/>
            <a:ext cx="1017309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 descr="Z:\private\PictureShortBio\Carolina_Ruiz_Museum_2012_Head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081" y="5393689"/>
            <a:ext cx="696200" cy="84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06" name="Picture 6" descr="C:\Users\ruiz\AppData\Local\Microsoft\Windows\Temporary Internet Files\Content.IE5\HBCK67LT\MC900078711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952912"/>
            <a:ext cx="434038" cy="105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002582" y="6239511"/>
            <a:ext cx="692080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Reinforcement learning: + and - rewards are provided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0234" y="4682065"/>
            <a:ext cx="854691" cy="85469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4293" y="4479288"/>
            <a:ext cx="854691" cy="8546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06F24F-6EE3-4583-B567-72777EFC1E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3890171"/>
            <a:ext cx="1068473" cy="7110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1B00CCC-576B-4C07-8E35-7F93FE7A10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0200" y="3662145"/>
            <a:ext cx="1068473" cy="71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4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 build="p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provide “experience”?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4040188" cy="639762"/>
          </a:xfrm>
        </p:spPr>
        <p:txBody>
          <a:bodyPr>
            <a:noAutofit/>
          </a:bodyPr>
          <a:lstStyle/>
          <a:p>
            <a:r>
              <a:rPr lang="en-US" sz="2000" dirty="0"/>
              <a:t>Using Data: experience is recorded in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(e.g., medical records)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Not using data:  Direct experience</a:t>
            </a:r>
          </a:p>
          <a:p>
            <a:endParaRPr lang="en-US" sz="2000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794176"/>
            <a:ext cx="3701862" cy="2463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7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438400"/>
            <a:ext cx="271272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105400" y="2057399"/>
            <a:ext cx="2981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(e.g., robot motion)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733" y="5492634"/>
            <a:ext cx="33854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Learning from data is also</a:t>
            </a:r>
          </a:p>
          <a:p>
            <a:r>
              <a:rPr lang="en-US" dirty="0">
                <a:latin typeface="+mn-lt"/>
              </a:rPr>
              <a:t> called data mining</a:t>
            </a:r>
          </a:p>
        </p:txBody>
      </p:sp>
    </p:spTree>
    <p:extLst>
      <p:ext uri="{BB962C8B-B14F-4D97-AF65-F5344CB8AC3E}">
        <p14:creationId xmlns:p14="http://schemas.microsoft.com/office/powerpoint/2010/main" val="2204510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2" name="AutoShape 60"/>
          <p:cNvSpPr>
            <a:spLocks noChangeArrowheads="1"/>
          </p:cNvSpPr>
          <p:nvPr/>
        </p:nvSpPr>
        <p:spPr bwMode="auto">
          <a:xfrm>
            <a:off x="228600" y="5029204"/>
            <a:ext cx="2362200" cy="1295401"/>
          </a:xfrm>
          <a:prstGeom prst="wedgeRoundRectCallout">
            <a:avLst>
              <a:gd name="adj1" fmla="val 59542"/>
              <a:gd name="adj2" fmla="val -62380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1603" name="Group 83"/>
          <p:cNvGrpSpPr>
            <a:grpSpLocks/>
          </p:cNvGrpSpPr>
          <p:nvPr/>
        </p:nvGrpSpPr>
        <p:grpSpPr bwMode="auto">
          <a:xfrm>
            <a:off x="304800" y="5181604"/>
            <a:ext cx="838200" cy="762001"/>
            <a:chOff x="288" y="3312"/>
            <a:chExt cx="528" cy="480"/>
          </a:xfrm>
        </p:grpSpPr>
        <p:sp>
          <p:nvSpPr>
            <p:cNvPr id="21605" name="Oval 61"/>
            <p:cNvSpPr>
              <a:spLocks noChangeArrowheads="1"/>
            </p:cNvSpPr>
            <p:nvPr/>
          </p:nvSpPr>
          <p:spPr bwMode="auto">
            <a:xfrm>
              <a:off x="528" y="360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606" name="Oval 62"/>
            <p:cNvSpPr>
              <a:spLocks noChangeArrowheads="1"/>
            </p:cNvSpPr>
            <p:nvPr/>
          </p:nvSpPr>
          <p:spPr bwMode="auto">
            <a:xfrm>
              <a:off x="336" y="3504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607" name="Oval 63"/>
            <p:cNvSpPr>
              <a:spLocks noChangeArrowheads="1"/>
            </p:cNvSpPr>
            <p:nvPr/>
          </p:nvSpPr>
          <p:spPr bwMode="auto">
            <a:xfrm>
              <a:off x="432" y="360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608" name="Oval 64"/>
            <p:cNvSpPr>
              <a:spLocks noChangeArrowheads="1"/>
            </p:cNvSpPr>
            <p:nvPr/>
          </p:nvSpPr>
          <p:spPr bwMode="auto">
            <a:xfrm>
              <a:off x="528" y="3456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609" name="Oval 65"/>
            <p:cNvSpPr>
              <a:spLocks noChangeArrowheads="1"/>
            </p:cNvSpPr>
            <p:nvPr/>
          </p:nvSpPr>
          <p:spPr bwMode="auto">
            <a:xfrm>
              <a:off x="624" y="3504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610" name="Arc 66"/>
            <p:cNvSpPr>
              <a:spLocks/>
            </p:cNvSpPr>
            <p:nvPr/>
          </p:nvSpPr>
          <p:spPr bwMode="auto">
            <a:xfrm flipV="1">
              <a:off x="336" y="3360"/>
              <a:ext cx="310" cy="240"/>
            </a:xfrm>
            <a:custGeom>
              <a:avLst/>
              <a:gdLst>
                <a:gd name="T0" fmla="*/ 0 w 27897"/>
                <a:gd name="T1" fmla="*/ 10 h 21600"/>
                <a:gd name="T2" fmla="*/ 310 w 27897"/>
                <a:gd name="T3" fmla="*/ 240 h 21600"/>
                <a:gd name="T4" fmla="*/ 70 w 27897"/>
                <a:gd name="T5" fmla="*/ 24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897" h="21600" fill="none" extrusionOk="0">
                  <a:moveTo>
                    <a:pt x="0" y="938"/>
                  </a:moveTo>
                  <a:cubicBezTo>
                    <a:pt x="2041" y="316"/>
                    <a:pt x="4163" y="-1"/>
                    <a:pt x="6297" y="0"/>
                  </a:cubicBezTo>
                  <a:cubicBezTo>
                    <a:pt x="18226" y="0"/>
                    <a:pt x="27897" y="9670"/>
                    <a:pt x="27897" y="21600"/>
                  </a:cubicBezTo>
                </a:path>
                <a:path w="27897" h="21600" stroke="0" extrusionOk="0">
                  <a:moveTo>
                    <a:pt x="0" y="938"/>
                  </a:moveTo>
                  <a:cubicBezTo>
                    <a:pt x="2041" y="316"/>
                    <a:pt x="4163" y="-1"/>
                    <a:pt x="6297" y="0"/>
                  </a:cubicBezTo>
                  <a:cubicBezTo>
                    <a:pt x="18226" y="0"/>
                    <a:pt x="27897" y="9670"/>
                    <a:pt x="27897" y="21600"/>
                  </a:cubicBezTo>
                  <a:lnTo>
                    <a:pt x="6297" y="21600"/>
                  </a:lnTo>
                  <a:lnTo>
                    <a:pt x="0" y="938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611" name="Rectangle 69"/>
            <p:cNvSpPr>
              <a:spLocks noChangeArrowheads="1"/>
            </p:cNvSpPr>
            <p:nvPr/>
          </p:nvSpPr>
          <p:spPr bwMode="auto">
            <a:xfrm>
              <a:off x="288" y="3312"/>
              <a:ext cx="528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612" name="Oval 70"/>
            <p:cNvSpPr>
              <a:spLocks noChangeArrowheads="1"/>
            </p:cNvSpPr>
            <p:nvPr/>
          </p:nvSpPr>
          <p:spPr bwMode="auto">
            <a:xfrm>
              <a:off x="720" y="3696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pic>
        <p:nvPicPr>
          <p:cNvPr id="21604" name="Picture 82" descr="chernof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257804"/>
            <a:ext cx="1295400" cy="9477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06" name="AutoShape 13"/>
          <p:cNvSpPr>
            <a:spLocks noChangeArrowheads="1"/>
          </p:cNvSpPr>
          <p:nvPr/>
        </p:nvSpPr>
        <p:spPr bwMode="auto">
          <a:xfrm>
            <a:off x="3352800" y="2819400"/>
            <a:ext cx="2667000" cy="2362200"/>
          </a:xfrm>
          <a:prstGeom prst="sun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7" name="AutoShape 12"/>
          <p:cNvSpPr>
            <a:spLocks noChangeArrowheads="1"/>
          </p:cNvSpPr>
          <p:nvPr/>
        </p:nvSpPr>
        <p:spPr bwMode="auto">
          <a:xfrm>
            <a:off x="4191000" y="3657600"/>
            <a:ext cx="990600" cy="762000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7488" y="304800"/>
            <a:ext cx="8915400" cy="11430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dirty="0"/>
              <a:t>What do you want to learn from your data?</a:t>
            </a:r>
            <a:endParaRPr lang="en-US" sz="2800" dirty="0"/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4267200" y="3733800"/>
            <a:ext cx="758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accent2"/>
                </a:solidFill>
              </a:rPr>
              <a:t>Data</a:t>
            </a: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2057400" y="3200400"/>
            <a:ext cx="1789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classification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4114800" y="2438400"/>
            <a:ext cx="1436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/>
              <a:t>regression</a:t>
            </a: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5486400" y="3200400"/>
            <a:ext cx="1384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clustering</a:t>
            </a: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5486400" y="4267200"/>
            <a:ext cx="1992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summarization</a:t>
            </a:r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2916238" y="5105400"/>
            <a:ext cx="35163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dependency/assoc. analysis</a:t>
            </a:r>
          </a:p>
        </p:txBody>
      </p: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1400511" y="4191000"/>
            <a:ext cx="235994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change/deviation </a:t>
            </a:r>
          </a:p>
          <a:p>
            <a:pPr eaLnBrk="1" hangingPunct="1"/>
            <a:r>
              <a:rPr lang="en-US"/>
              <a:t>detection</a:t>
            </a:r>
          </a:p>
        </p:txBody>
      </p:sp>
      <p:grpSp>
        <p:nvGrpSpPr>
          <p:cNvPr id="42114" name="Group 130"/>
          <p:cNvGrpSpPr>
            <a:grpSpLocks/>
          </p:cNvGrpSpPr>
          <p:nvPr/>
        </p:nvGrpSpPr>
        <p:grpSpPr bwMode="auto">
          <a:xfrm>
            <a:off x="6705600" y="4724400"/>
            <a:ext cx="1981200" cy="1295400"/>
            <a:chOff x="4272" y="3072"/>
            <a:chExt cx="1248" cy="816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21622" name="AutoShape 46"/>
            <p:cNvSpPr>
              <a:spLocks noChangeArrowheads="1"/>
            </p:cNvSpPr>
            <p:nvPr/>
          </p:nvSpPr>
          <p:spPr bwMode="auto">
            <a:xfrm>
              <a:off x="4272" y="3072"/>
              <a:ext cx="1248" cy="816"/>
            </a:xfrm>
            <a:prstGeom prst="wedgeRoundRectCallout">
              <a:avLst>
                <a:gd name="adj1" fmla="val -69389"/>
                <a:gd name="adj2" fmla="val -53676"/>
                <a:gd name="adj3" fmla="val 16667"/>
              </a:avLst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graphicFrame>
          <p:nvGraphicFramePr>
            <p:cNvPr id="21623" name="Object 47"/>
            <p:cNvGraphicFramePr>
              <a:graphicFrameLocks noChangeAspect="1"/>
            </p:cNvGraphicFramePr>
            <p:nvPr/>
          </p:nvGraphicFramePr>
          <p:xfrm>
            <a:off x="4848" y="3120"/>
            <a:ext cx="57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91" name="Chart" r:id="rId5" imgW="2194560" imgH="1569828" progId="MSGraph.Chart.8">
                    <p:embed followColorScheme="full"/>
                  </p:oleObj>
                </mc:Choice>
                <mc:Fallback>
                  <p:oleObj name="Chart" r:id="rId5" imgW="2194560" imgH="1569828" progId="MSGraph.Chart.8">
                    <p:embed followColorScheme="full"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120"/>
                          <a:ext cx="576" cy="31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1624" name="Picture 48" descr="Fig1a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0" y="3168"/>
              <a:ext cx="480" cy="31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  <p:sp>
          <p:nvSpPr>
            <p:cNvPr id="21625" name="Text Box 49"/>
            <p:cNvSpPr txBox="1">
              <a:spLocks noChangeArrowheads="1"/>
            </p:cNvSpPr>
            <p:nvPr/>
          </p:nvSpPr>
          <p:spPr bwMode="auto">
            <a:xfrm>
              <a:off x="4399" y="3519"/>
              <a:ext cx="986" cy="25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000" b="1"/>
                <a:t>IF</a:t>
              </a:r>
              <a:r>
                <a:rPr lang="en-US" sz="1000"/>
                <a:t> a &amp; b &amp; c </a:t>
              </a:r>
              <a:r>
                <a:rPr lang="en-US" sz="1000" b="1"/>
                <a:t>THEN</a:t>
              </a:r>
              <a:r>
                <a:rPr lang="en-US" sz="1000"/>
                <a:t> d &amp; k</a:t>
              </a:r>
            </a:p>
            <a:p>
              <a:pPr eaLnBrk="1" hangingPunct="1"/>
              <a:r>
                <a:rPr lang="en-US" sz="1000" b="1"/>
                <a:t>IF</a:t>
              </a:r>
              <a:r>
                <a:rPr lang="en-US" sz="1000"/>
                <a:t> k &amp; a </a:t>
              </a:r>
              <a:r>
                <a:rPr lang="en-US" sz="1000" b="1"/>
                <a:t>THEN</a:t>
              </a:r>
              <a:r>
                <a:rPr lang="en-US" sz="1000"/>
                <a:t> e</a:t>
              </a:r>
              <a:endParaRPr lang="en-US" sz="1000" b="1"/>
            </a:p>
          </p:txBody>
        </p:sp>
      </p:grpSp>
      <p:sp>
        <p:nvSpPr>
          <p:cNvPr id="42068" name="AutoShape 84"/>
          <p:cNvSpPr>
            <a:spLocks noChangeArrowheads="1"/>
          </p:cNvSpPr>
          <p:nvPr/>
        </p:nvSpPr>
        <p:spPr bwMode="auto">
          <a:xfrm>
            <a:off x="457200" y="1524000"/>
            <a:ext cx="2438400" cy="1676400"/>
          </a:xfrm>
          <a:prstGeom prst="wedgeRoundRectCallout">
            <a:avLst>
              <a:gd name="adj1" fmla="val 39713"/>
              <a:gd name="adj2" fmla="val 54926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2117" name="Group 133"/>
          <p:cNvGrpSpPr>
            <a:grpSpLocks/>
          </p:cNvGrpSpPr>
          <p:nvPr/>
        </p:nvGrpSpPr>
        <p:grpSpPr bwMode="auto">
          <a:xfrm>
            <a:off x="1219200" y="1676400"/>
            <a:ext cx="685800" cy="685800"/>
            <a:chOff x="768" y="1056"/>
            <a:chExt cx="432" cy="432"/>
          </a:xfrm>
        </p:grpSpPr>
        <p:sp>
          <p:nvSpPr>
            <p:cNvPr id="21571" name="Oval 108"/>
            <p:cNvSpPr>
              <a:spLocks noChangeArrowheads="1"/>
            </p:cNvSpPr>
            <p:nvPr/>
          </p:nvSpPr>
          <p:spPr bwMode="auto">
            <a:xfrm>
              <a:off x="864" y="1152"/>
              <a:ext cx="48" cy="4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572" name="Oval 109"/>
            <p:cNvSpPr>
              <a:spLocks noChangeArrowheads="1"/>
            </p:cNvSpPr>
            <p:nvPr/>
          </p:nvSpPr>
          <p:spPr bwMode="auto">
            <a:xfrm>
              <a:off x="1008" y="1104"/>
              <a:ext cx="48" cy="4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573" name="Oval 110"/>
            <p:cNvSpPr>
              <a:spLocks noChangeArrowheads="1"/>
            </p:cNvSpPr>
            <p:nvPr/>
          </p:nvSpPr>
          <p:spPr bwMode="auto">
            <a:xfrm>
              <a:off x="816" y="1200"/>
              <a:ext cx="48" cy="4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574" name="Oval 111"/>
            <p:cNvSpPr>
              <a:spLocks noChangeArrowheads="1"/>
            </p:cNvSpPr>
            <p:nvPr/>
          </p:nvSpPr>
          <p:spPr bwMode="auto">
            <a:xfrm>
              <a:off x="1056" y="1200"/>
              <a:ext cx="48" cy="48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575" name="Oval 112"/>
            <p:cNvSpPr>
              <a:spLocks noChangeArrowheads="1"/>
            </p:cNvSpPr>
            <p:nvPr/>
          </p:nvSpPr>
          <p:spPr bwMode="auto">
            <a:xfrm>
              <a:off x="1056" y="1344"/>
              <a:ext cx="48" cy="48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576" name="Oval 113"/>
            <p:cNvSpPr>
              <a:spLocks noChangeArrowheads="1"/>
            </p:cNvSpPr>
            <p:nvPr/>
          </p:nvSpPr>
          <p:spPr bwMode="auto">
            <a:xfrm>
              <a:off x="960" y="1248"/>
              <a:ext cx="48" cy="48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577" name="Oval 114"/>
            <p:cNvSpPr>
              <a:spLocks noChangeArrowheads="1"/>
            </p:cNvSpPr>
            <p:nvPr/>
          </p:nvSpPr>
          <p:spPr bwMode="auto">
            <a:xfrm>
              <a:off x="864" y="1344"/>
              <a:ext cx="48" cy="4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578" name="Freeform 115"/>
            <p:cNvSpPr>
              <a:spLocks/>
            </p:cNvSpPr>
            <p:nvPr/>
          </p:nvSpPr>
          <p:spPr bwMode="auto">
            <a:xfrm>
              <a:off x="912" y="1152"/>
              <a:ext cx="240" cy="288"/>
            </a:xfrm>
            <a:custGeom>
              <a:avLst/>
              <a:gdLst>
                <a:gd name="T0" fmla="*/ 115 w 368"/>
                <a:gd name="T1" fmla="*/ 288 h 288"/>
                <a:gd name="T2" fmla="*/ 21 w 368"/>
                <a:gd name="T3" fmla="*/ 96 h 288"/>
                <a:gd name="T4" fmla="*/ 240 w 368"/>
                <a:gd name="T5" fmla="*/ 0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8" h="288">
                  <a:moveTo>
                    <a:pt x="176" y="288"/>
                  </a:moveTo>
                  <a:cubicBezTo>
                    <a:pt x="88" y="216"/>
                    <a:pt x="0" y="144"/>
                    <a:pt x="32" y="96"/>
                  </a:cubicBezTo>
                  <a:cubicBezTo>
                    <a:pt x="64" y="48"/>
                    <a:pt x="320" y="8"/>
                    <a:pt x="368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579" name="Rectangle 117"/>
            <p:cNvSpPr>
              <a:spLocks noChangeArrowheads="1"/>
            </p:cNvSpPr>
            <p:nvPr/>
          </p:nvSpPr>
          <p:spPr bwMode="auto">
            <a:xfrm>
              <a:off x="768" y="1056"/>
              <a:ext cx="432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42119" name="Group 135"/>
          <p:cNvGrpSpPr>
            <a:grpSpLocks/>
          </p:cNvGrpSpPr>
          <p:nvPr/>
        </p:nvGrpSpPr>
        <p:grpSpPr bwMode="auto">
          <a:xfrm>
            <a:off x="533400" y="2260600"/>
            <a:ext cx="684213" cy="527050"/>
            <a:chOff x="336" y="1424"/>
            <a:chExt cx="431" cy="332"/>
          </a:xfrm>
        </p:grpSpPr>
        <p:graphicFrame>
          <p:nvGraphicFramePr>
            <p:cNvPr id="21567" name="Object 120"/>
            <p:cNvGraphicFramePr>
              <a:graphicFrameLocks noChangeAspect="1"/>
            </p:cNvGraphicFramePr>
            <p:nvPr/>
          </p:nvGraphicFramePr>
          <p:xfrm>
            <a:off x="336" y="1424"/>
            <a:ext cx="431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92" name="MS Org Chart" r:id="rId8" imgW="4419360" imgH="3403440" progId="OrgPlusWOPX.4">
                    <p:embed followColorScheme="full"/>
                  </p:oleObj>
                </mc:Choice>
                <mc:Fallback>
                  <p:oleObj name="MS Org Chart" r:id="rId8" imgW="4419360" imgH="3403440" progId="OrgPlusWOPX.4">
                    <p:embed followColorScheme="full"/>
                    <p:pic>
                      <p:nvPicPr>
                        <p:cNvPr id="0" name="Object 1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1424"/>
                          <a:ext cx="431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68" name="Oval 121"/>
            <p:cNvSpPr>
              <a:spLocks noChangeArrowheads="1"/>
            </p:cNvSpPr>
            <p:nvPr/>
          </p:nvSpPr>
          <p:spPr bwMode="auto">
            <a:xfrm>
              <a:off x="672" y="1680"/>
              <a:ext cx="48" cy="48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569" name="Oval 122"/>
            <p:cNvSpPr>
              <a:spLocks noChangeArrowheads="1"/>
            </p:cNvSpPr>
            <p:nvPr/>
          </p:nvSpPr>
          <p:spPr bwMode="auto">
            <a:xfrm>
              <a:off x="384" y="1680"/>
              <a:ext cx="48" cy="4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570" name="Oval 123"/>
            <p:cNvSpPr>
              <a:spLocks noChangeArrowheads="1"/>
            </p:cNvSpPr>
            <p:nvPr/>
          </p:nvSpPr>
          <p:spPr bwMode="auto">
            <a:xfrm>
              <a:off x="528" y="168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42120" name="Group 136"/>
          <p:cNvGrpSpPr>
            <a:grpSpLocks/>
          </p:cNvGrpSpPr>
          <p:nvPr/>
        </p:nvGrpSpPr>
        <p:grpSpPr bwMode="auto">
          <a:xfrm>
            <a:off x="1317625" y="2667000"/>
            <a:ext cx="1208088" cy="406400"/>
            <a:chOff x="830" y="1680"/>
            <a:chExt cx="761" cy="256"/>
          </a:xfrm>
        </p:grpSpPr>
        <p:sp>
          <p:nvSpPr>
            <p:cNvPr id="21564" name="Text Box 124"/>
            <p:cNvSpPr txBox="1">
              <a:spLocks noChangeArrowheads="1"/>
            </p:cNvSpPr>
            <p:nvPr/>
          </p:nvSpPr>
          <p:spPr bwMode="auto">
            <a:xfrm>
              <a:off x="830" y="1680"/>
              <a:ext cx="761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000" b="1" dirty="0"/>
                <a:t>IF</a:t>
              </a:r>
              <a:r>
                <a:rPr lang="en-US" sz="1000" dirty="0"/>
                <a:t> A &amp; B </a:t>
              </a:r>
              <a:r>
                <a:rPr lang="en-US" sz="1000" b="1" dirty="0"/>
                <a:t>THEN    </a:t>
              </a:r>
              <a:endParaRPr lang="en-US" sz="1000" dirty="0"/>
            </a:p>
            <a:p>
              <a:pPr eaLnBrk="1" hangingPunct="1"/>
              <a:r>
                <a:rPr lang="en-US" sz="1000" b="1" dirty="0"/>
                <a:t>IF</a:t>
              </a:r>
              <a:r>
                <a:rPr lang="en-US" sz="1000" dirty="0"/>
                <a:t> A &amp; D </a:t>
              </a:r>
              <a:r>
                <a:rPr lang="en-US" sz="1000" b="1" dirty="0"/>
                <a:t>THEN</a:t>
              </a:r>
              <a:r>
                <a:rPr lang="en-US" sz="1000" dirty="0"/>
                <a:t>   </a:t>
              </a:r>
              <a:endParaRPr lang="en-US" sz="1000" b="1" dirty="0"/>
            </a:p>
          </p:txBody>
        </p:sp>
        <p:sp>
          <p:nvSpPr>
            <p:cNvPr id="21565" name="Oval 125"/>
            <p:cNvSpPr>
              <a:spLocks noChangeArrowheads="1"/>
            </p:cNvSpPr>
            <p:nvPr/>
          </p:nvSpPr>
          <p:spPr bwMode="auto">
            <a:xfrm>
              <a:off x="1488" y="1824"/>
              <a:ext cx="48" cy="48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566" name="Oval 126"/>
            <p:cNvSpPr>
              <a:spLocks noChangeArrowheads="1"/>
            </p:cNvSpPr>
            <p:nvPr/>
          </p:nvSpPr>
          <p:spPr bwMode="auto">
            <a:xfrm>
              <a:off x="1488" y="1728"/>
              <a:ext cx="48" cy="4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38" name="Group 85"/>
          <p:cNvGrpSpPr>
            <a:grpSpLocks/>
          </p:cNvGrpSpPr>
          <p:nvPr/>
        </p:nvGrpSpPr>
        <p:grpSpPr bwMode="auto">
          <a:xfrm>
            <a:off x="2133600" y="1676400"/>
            <a:ext cx="533400" cy="914400"/>
            <a:chOff x="5088" y="432"/>
            <a:chExt cx="672" cy="816"/>
          </a:xfrm>
        </p:grpSpPr>
        <p:sp>
          <p:nvSpPr>
            <p:cNvPr id="139" name="Rectangle 86" descr="Newsprint"/>
            <p:cNvSpPr>
              <a:spLocks noChangeArrowheads="1"/>
            </p:cNvSpPr>
            <p:nvPr/>
          </p:nvSpPr>
          <p:spPr bwMode="auto">
            <a:xfrm>
              <a:off x="5088" y="432"/>
              <a:ext cx="672" cy="816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0" name="Group 87"/>
            <p:cNvGrpSpPr>
              <a:grpSpLocks/>
            </p:cNvGrpSpPr>
            <p:nvPr/>
          </p:nvGrpSpPr>
          <p:grpSpPr bwMode="auto">
            <a:xfrm>
              <a:off x="5136" y="477"/>
              <a:ext cx="576" cy="726"/>
              <a:chOff x="6525" y="16311"/>
              <a:chExt cx="1583" cy="2152"/>
            </a:xfrm>
          </p:grpSpPr>
          <p:sp>
            <p:nvSpPr>
              <p:cNvPr id="141" name="Oval 88"/>
              <p:cNvSpPr>
                <a:spLocks noChangeArrowheads="1"/>
              </p:cNvSpPr>
              <p:nvPr/>
            </p:nvSpPr>
            <p:spPr bwMode="auto">
              <a:xfrm>
                <a:off x="6525" y="16311"/>
                <a:ext cx="93" cy="165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2" name="Oval 89"/>
              <p:cNvSpPr>
                <a:spLocks noChangeArrowheads="1"/>
              </p:cNvSpPr>
              <p:nvPr/>
            </p:nvSpPr>
            <p:spPr bwMode="auto">
              <a:xfrm>
                <a:off x="6525" y="16807"/>
                <a:ext cx="93" cy="167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3" name="Oval 90"/>
              <p:cNvSpPr>
                <a:spLocks noChangeArrowheads="1"/>
              </p:cNvSpPr>
              <p:nvPr/>
            </p:nvSpPr>
            <p:spPr bwMode="auto">
              <a:xfrm>
                <a:off x="6525" y="17304"/>
                <a:ext cx="93" cy="166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4" name="Oval 91"/>
              <p:cNvSpPr>
                <a:spLocks noChangeArrowheads="1"/>
              </p:cNvSpPr>
              <p:nvPr/>
            </p:nvSpPr>
            <p:spPr bwMode="auto">
              <a:xfrm>
                <a:off x="6525" y="18298"/>
                <a:ext cx="93" cy="165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5" name="Oval 92"/>
              <p:cNvSpPr>
                <a:spLocks noChangeArrowheads="1"/>
              </p:cNvSpPr>
              <p:nvPr/>
            </p:nvSpPr>
            <p:spPr bwMode="auto">
              <a:xfrm>
                <a:off x="7270" y="16974"/>
                <a:ext cx="93" cy="165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6" name="Oval 93"/>
              <p:cNvSpPr>
                <a:spLocks noChangeArrowheads="1"/>
              </p:cNvSpPr>
              <p:nvPr/>
            </p:nvSpPr>
            <p:spPr bwMode="auto">
              <a:xfrm>
                <a:off x="7270" y="17470"/>
                <a:ext cx="93" cy="165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7" name="Oval 94"/>
              <p:cNvSpPr>
                <a:spLocks noChangeArrowheads="1"/>
              </p:cNvSpPr>
              <p:nvPr/>
            </p:nvSpPr>
            <p:spPr bwMode="auto">
              <a:xfrm>
                <a:off x="8015" y="17304"/>
                <a:ext cx="93" cy="166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8" name="Oval 95"/>
              <p:cNvSpPr>
                <a:spLocks noChangeArrowheads="1"/>
              </p:cNvSpPr>
              <p:nvPr/>
            </p:nvSpPr>
            <p:spPr bwMode="auto">
              <a:xfrm>
                <a:off x="6525" y="17800"/>
                <a:ext cx="93" cy="167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9" name="Line 96"/>
              <p:cNvSpPr>
                <a:spLocks noChangeShapeType="1"/>
              </p:cNvSpPr>
              <p:nvPr/>
            </p:nvSpPr>
            <p:spPr bwMode="auto">
              <a:xfrm>
                <a:off x="6618" y="16476"/>
                <a:ext cx="652" cy="49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0" name="Line 97"/>
              <p:cNvSpPr>
                <a:spLocks noChangeShapeType="1"/>
              </p:cNvSpPr>
              <p:nvPr/>
            </p:nvSpPr>
            <p:spPr bwMode="auto">
              <a:xfrm>
                <a:off x="6618" y="16974"/>
                <a:ext cx="652" cy="4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1" name="Line 98"/>
              <p:cNvSpPr>
                <a:spLocks noChangeShapeType="1"/>
              </p:cNvSpPr>
              <p:nvPr/>
            </p:nvSpPr>
            <p:spPr bwMode="auto">
              <a:xfrm>
                <a:off x="6618" y="16974"/>
                <a:ext cx="6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2" name="Line 99"/>
              <p:cNvSpPr>
                <a:spLocks noChangeShapeType="1"/>
              </p:cNvSpPr>
              <p:nvPr/>
            </p:nvSpPr>
            <p:spPr bwMode="auto">
              <a:xfrm>
                <a:off x="6618" y="17470"/>
                <a:ext cx="6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3" name="Line 100"/>
              <p:cNvSpPr>
                <a:spLocks noChangeShapeType="1"/>
              </p:cNvSpPr>
              <p:nvPr/>
            </p:nvSpPr>
            <p:spPr bwMode="auto">
              <a:xfrm flipV="1">
                <a:off x="6618" y="17470"/>
                <a:ext cx="652" cy="4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4" name="Line 101"/>
              <p:cNvSpPr>
                <a:spLocks noChangeShapeType="1"/>
              </p:cNvSpPr>
              <p:nvPr/>
            </p:nvSpPr>
            <p:spPr bwMode="auto">
              <a:xfrm flipV="1">
                <a:off x="6618" y="17470"/>
                <a:ext cx="652" cy="9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5" name="Line 102"/>
              <p:cNvSpPr>
                <a:spLocks noChangeShapeType="1"/>
              </p:cNvSpPr>
              <p:nvPr/>
            </p:nvSpPr>
            <p:spPr bwMode="auto">
              <a:xfrm flipV="1">
                <a:off x="6618" y="16974"/>
                <a:ext cx="652" cy="4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6" name="Line 103"/>
              <p:cNvSpPr>
                <a:spLocks noChangeShapeType="1"/>
              </p:cNvSpPr>
              <p:nvPr/>
            </p:nvSpPr>
            <p:spPr bwMode="auto">
              <a:xfrm flipV="1">
                <a:off x="6618" y="16974"/>
                <a:ext cx="652" cy="14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7" name="Line 104"/>
              <p:cNvSpPr>
                <a:spLocks noChangeShapeType="1"/>
              </p:cNvSpPr>
              <p:nvPr/>
            </p:nvSpPr>
            <p:spPr bwMode="auto">
              <a:xfrm flipV="1">
                <a:off x="6618" y="16974"/>
                <a:ext cx="652" cy="9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8" name="Line 105"/>
              <p:cNvSpPr>
                <a:spLocks noChangeShapeType="1"/>
              </p:cNvSpPr>
              <p:nvPr/>
            </p:nvSpPr>
            <p:spPr bwMode="auto">
              <a:xfrm>
                <a:off x="6618" y="16476"/>
                <a:ext cx="652" cy="9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9" name="Line 106"/>
              <p:cNvSpPr>
                <a:spLocks noChangeShapeType="1"/>
              </p:cNvSpPr>
              <p:nvPr/>
            </p:nvSpPr>
            <p:spPr bwMode="auto">
              <a:xfrm>
                <a:off x="7363" y="17139"/>
                <a:ext cx="652" cy="1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0" name="Line 107"/>
              <p:cNvSpPr>
                <a:spLocks noChangeShapeType="1"/>
              </p:cNvSpPr>
              <p:nvPr/>
            </p:nvSpPr>
            <p:spPr bwMode="auto">
              <a:xfrm flipV="1">
                <a:off x="7363" y="17470"/>
                <a:ext cx="652" cy="1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161" name="AutoShape 14"/>
          <p:cNvSpPr>
            <a:spLocks noChangeArrowheads="1"/>
          </p:cNvSpPr>
          <p:nvPr/>
        </p:nvSpPr>
        <p:spPr bwMode="auto">
          <a:xfrm>
            <a:off x="5143500" y="1557990"/>
            <a:ext cx="2362200" cy="838200"/>
          </a:xfrm>
          <a:prstGeom prst="wedgeRoundRectCallout">
            <a:avLst>
              <a:gd name="adj1" fmla="val -45968"/>
              <a:gd name="adj2" fmla="val 70074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Line 15"/>
          <p:cNvSpPr>
            <a:spLocks noChangeShapeType="1"/>
          </p:cNvSpPr>
          <p:nvPr/>
        </p:nvSpPr>
        <p:spPr bwMode="auto">
          <a:xfrm flipV="1">
            <a:off x="5295900" y="1710390"/>
            <a:ext cx="685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Oval 16"/>
          <p:cNvSpPr>
            <a:spLocks noChangeArrowheads="1"/>
          </p:cNvSpPr>
          <p:nvPr/>
        </p:nvSpPr>
        <p:spPr bwMode="auto">
          <a:xfrm>
            <a:off x="5372100" y="2167590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" name="Oval 17"/>
          <p:cNvSpPr>
            <a:spLocks noChangeArrowheads="1"/>
          </p:cNvSpPr>
          <p:nvPr/>
        </p:nvSpPr>
        <p:spPr bwMode="auto">
          <a:xfrm>
            <a:off x="5448300" y="1938990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" name="Oval 18"/>
          <p:cNvSpPr>
            <a:spLocks noChangeArrowheads="1"/>
          </p:cNvSpPr>
          <p:nvPr/>
        </p:nvSpPr>
        <p:spPr bwMode="auto">
          <a:xfrm>
            <a:off x="5600700" y="2015190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" name="Oval 19"/>
          <p:cNvSpPr>
            <a:spLocks noChangeArrowheads="1"/>
          </p:cNvSpPr>
          <p:nvPr/>
        </p:nvSpPr>
        <p:spPr bwMode="auto">
          <a:xfrm>
            <a:off x="5676900" y="1710390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" name="Oval 20"/>
          <p:cNvSpPr>
            <a:spLocks noChangeArrowheads="1"/>
          </p:cNvSpPr>
          <p:nvPr/>
        </p:nvSpPr>
        <p:spPr bwMode="auto">
          <a:xfrm>
            <a:off x="5753100" y="1938990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" name="Oval 21"/>
          <p:cNvSpPr>
            <a:spLocks noChangeArrowheads="1"/>
          </p:cNvSpPr>
          <p:nvPr/>
        </p:nvSpPr>
        <p:spPr bwMode="auto">
          <a:xfrm>
            <a:off x="6438900" y="2091390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9" name="Oval 22"/>
          <p:cNvSpPr>
            <a:spLocks noChangeArrowheads="1"/>
          </p:cNvSpPr>
          <p:nvPr/>
        </p:nvSpPr>
        <p:spPr bwMode="auto">
          <a:xfrm>
            <a:off x="6134100" y="1938990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0" name="Oval 23"/>
          <p:cNvSpPr>
            <a:spLocks noChangeArrowheads="1"/>
          </p:cNvSpPr>
          <p:nvPr/>
        </p:nvSpPr>
        <p:spPr bwMode="auto">
          <a:xfrm>
            <a:off x="6286500" y="2091390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1" name="Oval 24"/>
          <p:cNvSpPr>
            <a:spLocks noChangeArrowheads="1"/>
          </p:cNvSpPr>
          <p:nvPr/>
        </p:nvSpPr>
        <p:spPr bwMode="auto">
          <a:xfrm>
            <a:off x="6438900" y="1862790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2" name="Oval 25"/>
          <p:cNvSpPr>
            <a:spLocks noChangeArrowheads="1"/>
          </p:cNvSpPr>
          <p:nvPr/>
        </p:nvSpPr>
        <p:spPr bwMode="auto">
          <a:xfrm>
            <a:off x="6591300" y="1938990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" name="Arc 26"/>
          <p:cNvSpPr>
            <a:spLocks/>
          </p:cNvSpPr>
          <p:nvPr/>
        </p:nvSpPr>
        <p:spPr bwMode="auto">
          <a:xfrm flipV="1">
            <a:off x="6134100" y="1710390"/>
            <a:ext cx="492125" cy="381000"/>
          </a:xfrm>
          <a:custGeom>
            <a:avLst/>
            <a:gdLst>
              <a:gd name="T0" fmla="*/ 0 w 27897"/>
              <a:gd name="T1" fmla="*/ 0 h 21600"/>
              <a:gd name="T2" fmla="*/ 3 w 27897"/>
              <a:gd name="T3" fmla="*/ 3 h 21600"/>
              <a:gd name="T4" fmla="*/ 1 w 27897"/>
              <a:gd name="T5" fmla="*/ 3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897" h="21600" fill="none" extrusionOk="0">
                <a:moveTo>
                  <a:pt x="0" y="938"/>
                </a:moveTo>
                <a:cubicBezTo>
                  <a:pt x="2041" y="316"/>
                  <a:pt x="4163" y="-1"/>
                  <a:pt x="6297" y="0"/>
                </a:cubicBezTo>
                <a:cubicBezTo>
                  <a:pt x="18226" y="0"/>
                  <a:pt x="27897" y="9670"/>
                  <a:pt x="27897" y="21600"/>
                </a:cubicBezTo>
              </a:path>
              <a:path w="27897" h="21600" stroke="0" extrusionOk="0">
                <a:moveTo>
                  <a:pt x="0" y="938"/>
                </a:moveTo>
                <a:cubicBezTo>
                  <a:pt x="2041" y="316"/>
                  <a:pt x="4163" y="-1"/>
                  <a:pt x="6297" y="0"/>
                </a:cubicBezTo>
                <a:cubicBezTo>
                  <a:pt x="18226" y="0"/>
                  <a:pt x="27897" y="9670"/>
                  <a:pt x="27897" y="21600"/>
                </a:cubicBezTo>
                <a:lnTo>
                  <a:pt x="6297" y="21600"/>
                </a:lnTo>
                <a:lnTo>
                  <a:pt x="0" y="938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" name="Rectangle 67"/>
          <p:cNvSpPr>
            <a:spLocks noChangeArrowheads="1"/>
          </p:cNvSpPr>
          <p:nvPr/>
        </p:nvSpPr>
        <p:spPr bwMode="auto">
          <a:xfrm>
            <a:off x="5295900" y="163419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5" name="Rectangle 68"/>
          <p:cNvSpPr>
            <a:spLocks noChangeArrowheads="1"/>
          </p:cNvSpPr>
          <p:nvPr/>
        </p:nvSpPr>
        <p:spPr bwMode="auto">
          <a:xfrm>
            <a:off x="6057900" y="163419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76" name="Group 137"/>
          <p:cNvGrpSpPr>
            <a:grpSpLocks/>
          </p:cNvGrpSpPr>
          <p:nvPr/>
        </p:nvGrpSpPr>
        <p:grpSpPr bwMode="auto">
          <a:xfrm>
            <a:off x="6819900" y="1634190"/>
            <a:ext cx="533400" cy="685800"/>
            <a:chOff x="5088" y="432"/>
            <a:chExt cx="672" cy="816"/>
          </a:xfrm>
        </p:grpSpPr>
        <p:sp>
          <p:nvSpPr>
            <p:cNvPr id="177" name="Rectangle 138" descr="Newsprint"/>
            <p:cNvSpPr>
              <a:spLocks noChangeArrowheads="1"/>
            </p:cNvSpPr>
            <p:nvPr/>
          </p:nvSpPr>
          <p:spPr bwMode="auto">
            <a:xfrm>
              <a:off x="5088" y="432"/>
              <a:ext cx="672" cy="816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78" name="Group 139"/>
            <p:cNvGrpSpPr>
              <a:grpSpLocks/>
            </p:cNvGrpSpPr>
            <p:nvPr/>
          </p:nvGrpSpPr>
          <p:grpSpPr bwMode="auto">
            <a:xfrm>
              <a:off x="5136" y="477"/>
              <a:ext cx="576" cy="726"/>
              <a:chOff x="6525" y="16311"/>
              <a:chExt cx="1583" cy="2152"/>
            </a:xfrm>
          </p:grpSpPr>
          <p:sp>
            <p:nvSpPr>
              <p:cNvPr id="179" name="Oval 140"/>
              <p:cNvSpPr>
                <a:spLocks noChangeArrowheads="1"/>
              </p:cNvSpPr>
              <p:nvPr/>
            </p:nvSpPr>
            <p:spPr bwMode="auto">
              <a:xfrm>
                <a:off x="6525" y="16311"/>
                <a:ext cx="93" cy="165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0" name="Oval 141"/>
              <p:cNvSpPr>
                <a:spLocks noChangeArrowheads="1"/>
              </p:cNvSpPr>
              <p:nvPr/>
            </p:nvSpPr>
            <p:spPr bwMode="auto">
              <a:xfrm>
                <a:off x="6525" y="16807"/>
                <a:ext cx="93" cy="167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1" name="Oval 142"/>
              <p:cNvSpPr>
                <a:spLocks noChangeArrowheads="1"/>
              </p:cNvSpPr>
              <p:nvPr/>
            </p:nvSpPr>
            <p:spPr bwMode="auto">
              <a:xfrm>
                <a:off x="6525" y="17304"/>
                <a:ext cx="93" cy="166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2" name="Oval 143"/>
              <p:cNvSpPr>
                <a:spLocks noChangeArrowheads="1"/>
              </p:cNvSpPr>
              <p:nvPr/>
            </p:nvSpPr>
            <p:spPr bwMode="auto">
              <a:xfrm>
                <a:off x="6525" y="18298"/>
                <a:ext cx="93" cy="165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3" name="Oval 144"/>
              <p:cNvSpPr>
                <a:spLocks noChangeArrowheads="1"/>
              </p:cNvSpPr>
              <p:nvPr/>
            </p:nvSpPr>
            <p:spPr bwMode="auto">
              <a:xfrm>
                <a:off x="7270" y="16974"/>
                <a:ext cx="93" cy="165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4" name="Oval 145"/>
              <p:cNvSpPr>
                <a:spLocks noChangeArrowheads="1"/>
              </p:cNvSpPr>
              <p:nvPr/>
            </p:nvSpPr>
            <p:spPr bwMode="auto">
              <a:xfrm>
                <a:off x="7270" y="17470"/>
                <a:ext cx="93" cy="165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5" name="Oval 146"/>
              <p:cNvSpPr>
                <a:spLocks noChangeArrowheads="1"/>
              </p:cNvSpPr>
              <p:nvPr/>
            </p:nvSpPr>
            <p:spPr bwMode="auto">
              <a:xfrm>
                <a:off x="8015" y="17304"/>
                <a:ext cx="93" cy="166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6" name="Oval 147"/>
              <p:cNvSpPr>
                <a:spLocks noChangeArrowheads="1"/>
              </p:cNvSpPr>
              <p:nvPr/>
            </p:nvSpPr>
            <p:spPr bwMode="auto">
              <a:xfrm>
                <a:off x="6525" y="17800"/>
                <a:ext cx="93" cy="167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7" name="Line 148"/>
              <p:cNvSpPr>
                <a:spLocks noChangeShapeType="1"/>
              </p:cNvSpPr>
              <p:nvPr/>
            </p:nvSpPr>
            <p:spPr bwMode="auto">
              <a:xfrm>
                <a:off x="6618" y="16476"/>
                <a:ext cx="652" cy="49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8" name="Line 149"/>
              <p:cNvSpPr>
                <a:spLocks noChangeShapeType="1"/>
              </p:cNvSpPr>
              <p:nvPr/>
            </p:nvSpPr>
            <p:spPr bwMode="auto">
              <a:xfrm>
                <a:off x="6618" y="16974"/>
                <a:ext cx="652" cy="4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9" name="Line 150"/>
              <p:cNvSpPr>
                <a:spLocks noChangeShapeType="1"/>
              </p:cNvSpPr>
              <p:nvPr/>
            </p:nvSpPr>
            <p:spPr bwMode="auto">
              <a:xfrm>
                <a:off x="6618" y="16974"/>
                <a:ext cx="6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0" name="Line 151"/>
              <p:cNvSpPr>
                <a:spLocks noChangeShapeType="1"/>
              </p:cNvSpPr>
              <p:nvPr/>
            </p:nvSpPr>
            <p:spPr bwMode="auto">
              <a:xfrm>
                <a:off x="6618" y="17470"/>
                <a:ext cx="6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1" name="Line 152"/>
              <p:cNvSpPr>
                <a:spLocks noChangeShapeType="1"/>
              </p:cNvSpPr>
              <p:nvPr/>
            </p:nvSpPr>
            <p:spPr bwMode="auto">
              <a:xfrm flipV="1">
                <a:off x="6618" y="17470"/>
                <a:ext cx="652" cy="4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2" name="Line 153"/>
              <p:cNvSpPr>
                <a:spLocks noChangeShapeType="1"/>
              </p:cNvSpPr>
              <p:nvPr/>
            </p:nvSpPr>
            <p:spPr bwMode="auto">
              <a:xfrm flipV="1">
                <a:off x="6618" y="17470"/>
                <a:ext cx="652" cy="9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3" name="Line 154"/>
              <p:cNvSpPr>
                <a:spLocks noChangeShapeType="1"/>
              </p:cNvSpPr>
              <p:nvPr/>
            </p:nvSpPr>
            <p:spPr bwMode="auto">
              <a:xfrm flipV="1">
                <a:off x="6618" y="16974"/>
                <a:ext cx="652" cy="4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4" name="Line 155"/>
              <p:cNvSpPr>
                <a:spLocks noChangeShapeType="1"/>
              </p:cNvSpPr>
              <p:nvPr/>
            </p:nvSpPr>
            <p:spPr bwMode="auto">
              <a:xfrm flipV="1">
                <a:off x="6618" y="16974"/>
                <a:ext cx="652" cy="14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5" name="Line 156"/>
              <p:cNvSpPr>
                <a:spLocks noChangeShapeType="1"/>
              </p:cNvSpPr>
              <p:nvPr/>
            </p:nvSpPr>
            <p:spPr bwMode="auto">
              <a:xfrm flipV="1">
                <a:off x="6618" y="16974"/>
                <a:ext cx="652" cy="9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6" name="Line 157"/>
              <p:cNvSpPr>
                <a:spLocks noChangeShapeType="1"/>
              </p:cNvSpPr>
              <p:nvPr/>
            </p:nvSpPr>
            <p:spPr bwMode="auto">
              <a:xfrm>
                <a:off x="6618" y="16476"/>
                <a:ext cx="652" cy="9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7" name="Line 158"/>
              <p:cNvSpPr>
                <a:spLocks noChangeShapeType="1"/>
              </p:cNvSpPr>
              <p:nvPr/>
            </p:nvSpPr>
            <p:spPr bwMode="auto">
              <a:xfrm>
                <a:off x="7363" y="17139"/>
                <a:ext cx="652" cy="1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8" name="Line 159"/>
              <p:cNvSpPr>
                <a:spLocks noChangeShapeType="1"/>
              </p:cNvSpPr>
              <p:nvPr/>
            </p:nvSpPr>
            <p:spPr bwMode="auto">
              <a:xfrm flipV="1">
                <a:off x="7363" y="17470"/>
                <a:ext cx="652" cy="1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200" name="AutoShape 27"/>
          <p:cNvSpPr>
            <a:spLocks noChangeArrowheads="1"/>
          </p:cNvSpPr>
          <p:nvPr/>
        </p:nvSpPr>
        <p:spPr bwMode="auto">
          <a:xfrm>
            <a:off x="6934200" y="2757488"/>
            <a:ext cx="2057400" cy="1066800"/>
          </a:xfrm>
          <a:prstGeom prst="wedgeRoundRectCallout">
            <a:avLst>
              <a:gd name="adj1" fmla="val -59491"/>
              <a:gd name="adj2" fmla="val 25745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" name="Oval 28"/>
          <p:cNvSpPr>
            <a:spLocks noChangeArrowheads="1"/>
          </p:cNvSpPr>
          <p:nvPr/>
        </p:nvSpPr>
        <p:spPr bwMode="auto">
          <a:xfrm>
            <a:off x="7239000" y="3214688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" name="Oval 29"/>
          <p:cNvSpPr>
            <a:spLocks noChangeArrowheads="1"/>
          </p:cNvSpPr>
          <p:nvPr/>
        </p:nvSpPr>
        <p:spPr bwMode="auto">
          <a:xfrm>
            <a:off x="7239000" y="3062288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3" name="Oval 30"/>
          <p:cNvSpPr>
            <a:spLocks noChangeArrowheads="1"/>
          </p:cNvSpPr>
          <p:nvPr/>
        </p:nvSpPr>
        <p:spPr bwMode="auto">
          <a:xfrm>
            <a:off x="7467600" y="3367088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" name="Oval 31"/>
          <p:cNvSpPr>
            <a:spLocks noChangeArrowheads="1"/>
          </p:cNvSpPr>
          <p:nvPr/>
        </p:nvSpPr>
        <p:spPr bwMode="auto">
          <a:xfrm>
            <a:off x="7696200" y="3519488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" name="Oval 32"/>
          <p:cNvSpPr>
            <a:spLocks noChangeArrowheads="1"/>
          </p:cNvSpPr>
          <p:nvPr/>
        </p:nvSpPr>
        <p:spPr bwMode="auto">
          <a:xfrm>
            <a:off x="7391400" y="3214688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" name="Oval 33"/>
          <p:cNvSpPr>
            <a:spLocks noChangeArrowheads="1"/>
          </p:cNvSpPr>
          <p:nvPr/>
        </p:nvSpPr>
        <p:spPr bwMode="auto">
          <a:xfrm>
            <a:off x="8077200" y="2986088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" name="Oval 34"/>
          <p:cNvSpPr>
            <a:spLocks noChangeArrowheads="1"/>
          </p:cNvSpPr>
          <p:nvPr/>
        </p:nvSpPr>
        <p:spPr bwMode="auto">
          <a:xfrm>
            <a:off x="8001000" y="3214688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8" name="Oval 35"/>
          <p:cNvSpPr>
            <a:spLocks noChangeArrowheads="1"/>
          </p:cNvSpPr>
          <p:nvPr/>
        </p:nvSpPr>
        <p:spPr bwMode="auto">
          <a:xfrm>
            <a:off x="8382000" y="3290888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" name="Oval 36"/>
          <p:cNvSpPr>
            <a:spLocks noChangeArrowheads="1"/>
          </p:cNvSpPr>
          <p:nvPr/>
        </p:nvSpPr>
        <p:spPr bwMode="auto">
          <a:xfrm>
            <a:off x="8610600" y="3367088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" name="Oval 37"/>
          <p:cNvSpPr>
            <a:spLocks noChangeArrowheads="1"/>
          </p:cNvSpPr>
          <p:nvPr/>
        </p:nvSpPr>
        <p:spPr bwMode="auto">
          <a:xfrm>
            <a:off x="8610600" y="3138488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" name="Oval 38"/>
          <p:cNvSpPr>
            <a:spLocks noChangeArrowheads="1"/>
          </p:cNvSpPr>
          <p:nvPr/>
        </p:nvSpPr>
        <p:spPr bwMode="auto">
          <a:xfrm>
            <a:off x="7924800" y="3367088"/>
            <a:ext cx="76200" cy="76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2" name="Oval 40"/>
          <p:cNvSpPr>
            <a:spLocks noChangeArrowheads="1"/>
          </p:cNvSpPr>
          <p:nvPr/>
        </p:nvSpPr>
        <p:spPr bwMode="auto">
          <a:xfrm rot="19484741">
            <a:off x="7205663" y="2743200"/>
            <a:ext cx="457200" cy="1066800"/>
          </a:xfrm>
          <a:prstGeom prst="ellips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" name="Oval 43"/>
          <p:cNvSpPr>
            <a:spLocks noChangeArrowheads="1"/>
          </p:cNvSpPr>
          <p:nvPr/>
        </p:nvSpPr>
        <p:spPr bwMode="auto">
          <a:xfrm rot="2302762">
            <a:off x="7772400" y="2757488"/>
            <a:ext cx="457200" cy="1066800"/>
          </a:xfrm>
          <a:prstGeom prst="ellips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" name="Oval 45"/>
          <p:cNvSpPr>
            <a:spLocks noChangeArrowheads="1"/>
          </p:cNvSpPr>
          <p:nvPr/>
        </p:nvSpPr>
        <p:spPr bwMode="auto">
          <a:xfrm rot="2302762">
            <a:off x="8345488" y="3049588"/>
            <a:ext cx="457200" cy="609600"/>
          </a:xfrm>
          <a:prstGeom prst="ellips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" name="AutoShape 50"/>
          <p:cNvSpPr>
            <a:spLocks noChangeArrowheads="1"/>
          </p:cNvSpPr>
          <p:nvPr/>
        </p:nvSpPr>
        <p:spPr bwMode="auto">
          <a:xfrm>
            <a:off x="3200400" y="5562600"/>
            <a:ext cx="2819400" cy="838200"/>
          </a:xfrm>
          <a:prstGeom prst="wedgeRoundRectCallout">
            <a:avLst>
              <a:gd name="adj1" fmla="val 505"/>
              <a:gd name="adj2" fmla="val -66856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17" name="Text Box 51"/>
          <p:cNvSpPr txBox="1">
            <a:spLocks noChangeArrowheads="1"/>
          </p:cNvSpPr>
          <p:nvPr/>
        </p:nvSpPr>
        <p:spPr bwMode="auto">
          <a:xfrm>
            <a:off x="3389313" y="5605463"/>
            <a:ext cx="1052513" cy="72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sz="1200" b="1"/>
              <a:t>A                 B</a:t>
            </a:r>
          </a:p>
          <a:p>
            <a:pPr eaLnBrk="1" hangingPunct="1"/>
            <a:endParaRPr lang="en-US" sz="1200" b="1"/>
          </a:p>
          <a:p>
            <a:pPr eaLnBrk="1" hangingPunct="1"/>
            <a:r>
              <a:rPr lang="en-US" sz="1200" b="1"/>
              <a:t>C            D</a:t>
            </a:r>
          </a:p>
        </p:txBody>
      </p:sp>
      <p:sp>
        <p:nvSpPr>
          <p:cNvPr id="218" name="Line 52"/>
          <p:cNvSpPr>
            <a:spLocks noChangeShapeType="1"/>
          </p:cNvSpPr>
          <p:nvPr/>
        </p:nvSpPr>
        <p:spPr bwMode="auto">
          <a:xfrm>
            <a:off x="3738563" y="58674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19" name="Line 53"/>
          <p:cNvSpPr>
            <a:spLocks noChangeShapeType="1"/>
          </p:cNvSpPr>
          <p:nvPr/>
        </p:nvSpPr>
        <p:spPr bwMode="auto">
          <a:xfrm flipV="1">
            <a:off x="3814763" y="57912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20" name="Line 54"/>
          <p:cNvSpPr>
            <a:spLocks noChangeShapeType="1"/>
          </p:cNvSpPr>
          <p:nvPr/>
        </p:nvSpPr>
        <p:spPr bwMode="auto">
          <a:xfrm>
            <a:off x="3733800" y="5791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21" name="Text Box 55"/>
          <p:cNvSpPr txBox="1">
            <a:spLocks noChangeArrowheads="1"/>
          </p:cNvSpPr>
          <p:nvPr/>
        </p:nvSpPr>
        <p:spPr bwMode="auto">
          <a:xfrm>
            <a:off x="3733800" y="5562600"/>
            <a:ext cx="342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000"/>
              <a:t>0.5</a:t>
            </a:r>
          </a:p>
        </p:txBody>
      </p:sp>
      <p:sp>
        <p:nvSpPr>
          <p:cNvPr id="222" name="Text Box 56"/>
          <p:cNvSpPr txBox="1">
            <a:spLocks noChangeArrowheads="1"/>
          </p:cNvSpPr>
          <p:nvPr/>
        </p:nvSpPr>
        <p:spPr bwMode="auto">
          <a:xfrm>
            <a:off x="4011613" y="5867400"/>
            <a:ext cx="406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000"/>
              <a:t>0.75</a:t>
            </a:r>
          </a:p>
        </p:txBody>
      </p:sp>
      <p:sp>
        <p:nvSpPr>
          <p:cNvPr id="223" name="Text Box 57"/>
          <p:cNvSpPr txBox="1">
            <a:spLocks noChangeArrowheads="1"/>
          </p:cNvSpPr>
          <p:nvPr/>
        </p:nvSpPr>
        <p:spPr bwMode="auto">
          <a:xfrm>
            <a:off x="3581400" y="5943600"/>
            <a:ext cx="342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000"/>
              <a:t>0.3</a:t>
            </a:r>
          </a:p>
        </p:txBody>
      </p:sp>
      <p:sp>
        <p:nvSpPr>
          <p:cNvPr id="224" name="Text Box 59"/>
          <p:cNvSpPr txBox="1">
            <a:spLocks noChangeArrowheads="1"/>
          </p:cNvSpPr>
          <p:nvPr/>
        </p:nvSpPr>
        <p:spPr bwMode="auto">
          <a:xfrm>
            <a:off x="4576763" y="5740400"/>
            <a:ext cx="1212850" cy="496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200" b="1"/>
              <a:t>A, B -&gt; C  </a:t>
            </a:r>
            <a:r>
              <a:rPr lang="en-US" sz="1200"/>
              <a:t>80%</a:t>
            </a:r>
          </a:p>
          <a:p>
            <a:pPr eaLnBrk="1" hangingPunct="1"/>
            <a:r>
              <a:rPr lang="en-US" sz="1200" b="1"/>
              <a:t>C, D -&gt; A  </a:t>
            </a:r>
            <a:r>
              <a:rPr lang="en-US" sz="1200"/>
              <a:t>22%</a:t>
            </a:r>
            <a:r>
              <a:rPr lang="en-US" sz="1400" b="1"/>
              <a:t> 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629266"/>
            <a:ext cx="2629122" cy="16223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Decision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698" y="2438400"/>
            <a:ext cx="2629120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Decision trees are used for classification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dirty="0">
              <a:latin typeface="+mn-lt"/>
            </a:endParaRPr>
          </a:p>
          <a:p>
            <a:pPr marL="342900" indent="-3429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Regression trees follow a similar idea and are used for regression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557784"/>
            <a:ext cx="4938073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2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43400" y="2266698"/>
            <a:ext cx="4099004" cy="2324603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151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629266"/>
            <a:ext cx="2629122" cy="162232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Artificial Neural Networks (ANNs)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599" y="2443315"/>
            <a:ext cx="2672617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 algn="l">
              <a:lnSpc>
                <a:spcPct val="90000"/>
              </a:lnSpc>
              <a:spcAft>
                <a:spcPts val="600"/>
              </a:spcAft>
            </a:pPr>
            <a:endParaRPr lang="en-US" dirty="0">
              <a:latin typeface="+mn-lt"/>
            </a:endParaRPr>
          </a:p>
          <a:p>
            <a:pPr marL="342900" indent="-2286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Can be used for:</a:t>
            </a:r>
          </a:p>
          <a:p>
            <a:pPr marL="800100" lvl="1" indent="-2286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classification</a:t>
            </a:r>
          </a:p>
          <a:p>
            <a:pPr marL="800100" lvl="1" indent="-2286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regression or</a:t>
            </a:r>
          </a:p>
          <a:p>
            <a:pPr marL="800100" lvl="1" indent="-2286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unsupervised learning (self-organizing neural networks) 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557784"/>
            <a:ext cx="4938073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Z:\private\PictureShortBio\Carolina_Ruiz_Museum_2012_Head.jpg">
            <a:extLst>
              <a:ext uri="{FF2B5EF4-FFF2-40B4-BE49-F238E27FC236}">
                <a16:creationId xmlns:a16="http://schemas.microsoft.com/office/drawing/2014/main" id="{2C699E82-96C6-42F2-9243-D2C226F00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710" y="2771928"/>
            <a:ext cx="1075113" cy="130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85">
            <a:extLst>
              <a:ext uri="{FF2B5EF4-FFF2-40B4-BE49-F238E27FC236}">
                <a16:creationId xmlns:a16="http://schemas.microsoft.com/office/drawing/2014/main" id="{1EF115AD-B85A-4B55-8747-D1619C86FB56}"/>
              </a:ext>
            </a:extLst>
          </p:cNvPr>
          <p:cNvGrpSpPr>
            <a:grpSpLocks/>
          </p:cNvGrpSpPr>
          <p:nvPr/>
        </p:nvGrpSpPr>
        <p:grpSpPr bwMode="auto">
          <a:xfrm>
            <a:off x="5230369" y="2251587"/>
            <a:ext cx="2667000" cy="2590807"/>
            <a:chOff x="5088" y="432"/>
            <a:chExt cx="672" cy="816"/>
          </a:xfrm>
        </p:grpSpPr>
        <p:sp>
          <p:nvSpPr>
            <p:cNvPr id="11" name="Rectangle 86" descr="Newsprint">
              <a:extLst>
                <a:ext uri="{FF2B5EF4-FFF2-40B4-BE49-F238E27FC236}">
                  <a16:creationId xmlns:a16="http://schemas.microsoft.com/office/drawing/2014/main" id="{0346A5DF-1AE1-4E81-AC25-ACB2A6532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432"/>
              <a:ext cx="672" cy="816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" name="Group 87">
              <a:extLst>
                <a:ext uri="{FF2B5EF4-FFF2-40B4-BE49-F238E27FC236}">
                  <a16:creationId xmlns:a16="http://schemas.microsoft.com/office/drawing/2014/main" id="{F6E4587E-39FE-4A8E-9BA7-D6A85E22E7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6" y="477"/>
              <a:ext cx="576" cy="726"/>
              <a:chOff x="6525" y="16311"/>
              <a:chExt cx="1583" cy="2152"/>
            </a:xfrm>
          </p:grpSpPr>
          <p:sp>
            <p:nvSpPr>
              <p:cNvPr id="13" name="Oval 88">
                <a:extLst>
                  <a:ext uri="{FF2B5EF4-FFF2-40B4-BE49-F238E27FC236}">
                    <a16:creationId xmlns:a16="http://schemas.microsoft.com/office/drawing/2014/main" id="{C5A27243-F2EC-4E19-AF92-DA0B7DBD7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5" y="16311"/>
                <a:ext cx="93" cy="165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" name="Oval 89">
                <a:extLst>
                  <a:ext uri="{FF2B5EF4-FFF2-40B4-BE49-F238E27FC236}">
                    <a16:creationId xmlns:a16="http://schemas.microsoft.com/office/drawing/2014/main" id="{7875CC96-8E80-4EE7-86AB-DC9479EA7E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5" y="16807"/>
                <a:ext cx="93" cy="167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" name="Oval 90">
                <a:extLst>
                  <a:ext uri="{FF2B5EF4-FFF2-40B4-BE49-F238E27FC236}">
                    <a16:creationId xmlns:a16="http://schemas.microsoft.com/office/drawing/2014/main" id="{C2F17D1A-EA63-4C6C-ABB3-FF9BD352AE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5" y="17304"/>
                <a:ext cx="93" cy="166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" name="Oval 91">
                <a:extLst>
                  <a:ext uri="{FF2B5EF4-FFF2-40B4-BE49-F238E27FC236}">
                    <a16:creationId xmlns:a16="http://schemas.microsoft.com/office/drawing/2014/main" id="{5DCF4389-3E7A-4BDF-93E6-7826E6923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5" y="18298"/>
                <a:ext cx="93" cy="165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" name="Oval 92">
                <a:extLst>
                  <a:ext uri="{FF2B5EF4-FFF2-40B4-BE49-F238E27FC236}">
                    <a16:creationId xmlns:a16="http://schemas.microsoft.com/office/drawing/2014/main" id="{7AD42EA3-3A08-4882-B6C5-040960F958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70" y="16974"/>
                <a:ext cx="93" cy="165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" name="Oval 93">
                <a:extLst>
                  <a:ext uri="{FF2B5EF4-FFF2-40B4-BE49-F238E27FC236}">
                    <a16:creationId xmlns:a16="http://schemas.microsoft.com/office/drawing/2014/main" id="{D988B272-9680-4731-88EB-1EF62373FA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70" y="17470"/>
                <a:ext cx="93" cy="165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" name="Oval 94">
                <a:extLst>
                  <a:ext uri="{FF2B5EF4-FFF2-40B4-BE49-F238E27FC236}">
                    <a16:creationId xmlns:a16="http://schemas.microsoft.com/office/drawing/2014/main" id="{3EA22643-59A7-4E2D-9D84-6D092D2A9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15" y="17304"/>
                <a:ext cx="93" cy="166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" name="Oval 95">
                <a:extLst>
                  <a:ext uri="{FF2B5EF4-FFF2-40B4-BE49-F238E27FC236}">
                    <a16:creationId xmlns:a16="http://schemas.microsoft.com/office/drawing/2014/main" id="{DD870D6E-72EB-4E40-B198-AE73CBF15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5" y="17800"/>
                <a:ext cx="93" cy="167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" name="Line 96">
                <a:extLst>
                  <a:ext uri="{FF2B5EF4-FFF2-40B4-BE49-F238E27FC236}">
                    <a16:creationId xmlns:a16="http://schemas.microsoft.com/office/drawing/2014/main" id="{73A5A09B-1EDF-4061-8C9B-7CF02AF78D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18" y="16476"/>
                <a:ext cx="652" cy="49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2" name="Line 97">
                <a:extLst>
                  <a:ext uri="{FF2B5EF4-FFF2-40B4-BE49-F238E27FC236}">
                    <a16:creationId xmlns:a16="http://schemas.microsoft.com/office/drawing/2014/main" id="{E5AE9E2D-6B7C-4E39-9BE2-FF26F8F454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18" y="16974"/>
                <a:ext cx="652" cy="4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" name="Line 98">
                <a:extLst>
                  <a:ext uri="{FF2B5EF4-FFF2-40B4-BE49-F238E27FC236}">
                    <a16:creationId xmlns:a16="http://schemas.microsoft.com/office/drawing/2014/main" id="{B9AF39B3-1343-4918-A639-32EFE1D996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18" y="16974"/>
                <a:ext cx="6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" name="Line 99">
                <a:extLst>
                  <a:ext uri="{FF2B5EF4-FFF2-40B4-BE49-F238E27FC236}">
                    <a16:creationId xmlns:a16="http://schemas.microsoft.com/office/drawing/2014/main" id="{FFAAF10A-DF0C-4530-B8A9-836F2BE7D1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18" y="17470"/>
                <a:ext cx="6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" name="Line 100">
                <a:extLst>
                  <a:ext uri="{FF2B5EF4-FFF2-40B4-BE49-F238E27FC236}">
                    <a16:creationId xmlns:a16="http://schemas.microsoft.com/office/drawing/2014/main" id="{896E7851-E473-4D99-BB8C-1AA33E6A05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18" y="17470"/>
                <a:ext cx="652" cy="4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" name="Line 101">
                <a:extLst>
                  <a:ext uri="{FF2B5EF4-FFF2-40B4-BE49-F238E27FC236}">
                    <a16:creationId xmlns:a16="http://schemas.microsoft.com/office/drawing/2014/main" id="{3BB8F8FF-1552-470D-8F3A-1C865137BD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18" y="17470"/>
                <a:ext cx="652" cy="9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7" name="Line 102">
                <a:extLst>
                  <a:ext uri="{FF2B5EF4-FFF2-40B4-BE49-F238E27FC236}">
                    <a16:creationId xmlns:a16="http://schemas.microsoft.com/office/drawing/2014/main" id="{46F81C9B-62C2-4383-82E3-B3D7232A34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18" y="16974"/>
                <a:ext cx="652" cy="4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8" name="Line 103">
                <a:extLst>
                  <a:ext uri="{FF2B5EF4-FFF2-40B4-BE49-F238E27FC236}">
                    <a16:creationId xmlns:a16="http://schemas.microsoft.com/office/drawing/2014/main" id="{30360913-9E3F-4443-BEE1-6E6C2A6AC3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18" y="16974"/>
                <a:ext cx="652" cy="14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9" name="Line 104">
                <a:extLst>
                  <a:ext uri="{FF2B5EF4-FFF2-40B4-BE49-F238E27FC236}">
                    <a16:creationId xmlns:a16="http://schemas.microsoft.com/office/drawing/2014/main" id="{01FF47D2-6650-475F-A02F-835F5D3F95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18" y="16974"/>
                <a:ext cx="652" cy="9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" name="Line 105">
                <a:extLst>
                  <a:ext uri="{FF2B5EF4-FFF2-40B4-BE49-F238E27FC236}">
                    <a16:creationId xmlns:a16="http://schemas.microsoft.com/office/drawing/2014/main" id="{C8A2B746-D322-4AEB-AD06-51AC6BC70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18" y="16476"/>
                <a:ext cx="652" cy="9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" name="Line 106">
                <a:extLst>
                  <a:ext uri="{FF2B5EF4-FFF2-40B4-BE49-F238E27FC236}">
                    <a16:creationId xmlns:a16="http://schemas.microsoft.com/office/drawing/2014/main" id="{7C97A905-360E-469F-BB9A-967FA0DC0D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63" y="17139"/>
                <a:ext cx="652" cy="1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" name="Line 107">
                <a:extLst>
                  <a:ext uri="{FF2B5EF4-FFF2-40B4-BE49-F238E27FC236}">
                    <a16:creationId xmlns:a16="http://schemas.microsoft.com/office/drawing/2014/main" id="{6DF36D7F-3674-44C4-9901-7F64036C7B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363" y="17470"/>
                <a:ext cx="652" cy="1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17992" tIns="208996" rIns="417992" bIns="208996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BEF3D6A-B66D-4CE5-8CB9-74CAB4DBBDF0}"/>
              </a:ext>
            </a:extLst>
          </p:cNvPr>
          <p:cNvSpPr txBox="1"/>
          <p:nvPr/>
        </p:nvSpPr>
        <p:spPr>
          <a:xfrm>
            <a:off x="7943137" y="3281350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1025816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629266"/>
            <a:ext cx="2629122" cy="16223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Bayesian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680" y="2438400"/>
            <a:ext cx="2629120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Based on Probability</a:t>
            </a:r>
          </a:p>
          <a:p>
            <a:pPr marL="342900" indent="-2286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342900" indent="-2286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Can be used for:</a:t>
            </a:r>
          </a:p>
          <a:p>
            <a:pPr marL="800100" lvl="1" indent="-2286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classification</a:t>
            </a:r>
          </a:p>
          <a:p>
            <a:pPr marL="800100" lvl="1" indent="-2286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regression or</a:t>
            </a:r>
          </a:p>
          <a:p>
            <a:pPr marL="800100" lvl="1" indent="-2286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dependency analysis 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557784"/>
            <a:ext cx="4938073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2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54396" y="2208463"/>
            <a:ext cx="4514498" cy="243782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8110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Machines (SVMs)</a:t>
            </a:r>
          </a:p>
        </p:txBody>
      </p:sp>
      <p:pic>
        <p:nvPicPr>
          <p:cNvPr id="552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676400"/>
            <a:ext cx="4110586" cy="2114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962400"/>
            <a:ext cx="3505200" cy="1914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962400"/>
            <a:ext cx="246697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824269" y="1752600"/>
            <a:ext cx="2801386" cy="1312646"/>
            <a:chOff x="824269" y="1752600"/>
            <a:chExt cx="2801386" cy="1312646"/>
          </a:xfrm>
        </p:grpSpPr>
        <p:sp>
          <p:nvSpPr>
            <p:cNvPr id="7" name="Oval 88"/>
            <p:cNvSpPr>
              <a:spLocks noChangeArrowheads="1"/>
            </p:cNvSpPr>
            <p:nvPr/>
          </p:nvSpPr>
          <p:spPr bwMode="auto">
            <a:xfrm>
              <a:off x="1143000" y="1752600"/>
              <a:ext cx="78662" cy="96164"/>
            </a:xfrm>
            <a:prstGeom prst="ellipse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9" name="Oval 88"/>
            <p:cNvSpPr>
              <a:spLocks noChangeArrowheads="1"/>
            </p:cNvSpPr>
            <p:nvPr/>
          </p:nvSpPr>
          <p:spPr bwMode="auto">
            <a:xfrm>
              <a:off x="1295400" y="1905000"/>
              <a:ext cx="78662" cy="96164"/>
            </a:xfrm>
            <a:prstGeom prst="ellipse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10" name="Oval 88"/>
            <p:cNvSpPr>
              <a:spLocks noChangeArrowheads="1"/>
            </p:cNvSpPr>
            <p:nvPr/>
          </p:nvSpPr>
          <p:spPr bwMode="auto">
            <a:xfrm>
              <a:off x="1408469" y="2167467"/>
              <a:ext cx="78662" cy="96164"/>
            </a:xfrm>
            <a:prstGeom prst="ellipse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11" name="Oval 88"/>
            <p:cNvSpPr>
              <a:spLocks noChangeArrowheads="1"/>
            </p:cNvSpPr>
            <p:nvPr/>
          </p:nvSpPr>
          <p:spPr bwMode="auto">
            <a:xfrm>
              <a:off x="1489593" y="2455646"/>
              <a:ext cx="78662" cy="96164"/>
            </a:xfrm>
            <a:prstGeom prst="ellipse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12" name="Oval 88"/>
            <p:cNvSpPr>
              <a:spLocks noChangeArrowheads="1"/>
            </p:cNvSpPr>
            <p:nvPr/>
          </p:nvSpPr>
          <p:spPr bwMode="auto">
            <a:xfrm>
              <a:off x="1097664" y="2071303"/>
              <a:ext cx="78662" cy="96164"/>
            </a:xfrm>
            <a:prstGeom prst="ellipse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13" name="Oval 88"/>
            <p:cNvSpPr>
              <a:spLocks noChangeArrowheads="1"/>
            </p:cNvSpPr>
            <p:nvPr/>
          </p:nvSpPr>
          <p:spPr bwMode="auto">
            <a:xfrm>
              <a:off x="914400" y="2359482"/>
              <a:ext cx="78662" cy="96164"/>
            </a:xfrm>
            <a:prstGeom prst="ellipse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14" name="Oval 88"/>
            <p:cNvSpPr>
              <a:spLocks noChangeArrowheads="1"/>
            </p:cNvSpPr>
            <p:nvPr/>
          </p:nvSpPr>
          <p:spPr bwMode="auto">
            <a:xfrm>
              <a:off x="1828800" y="2588395"/>
              <a:ext cx="78662" cy="96164"/>
            </a:xfrm>
            <a:prstGeom prst="ellipse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15" name="Oval 88"/>
            <p:cNvSpPr>
              <a:spLocks noChangeArrowheads="1"/>
            </p:cNvSpPr>
            <p:nvPr/>
          </p:nvSpPr>
          <p:spPr bwMode="auto">
            <a:xfrm>
              <a:off x="1868131" y="2875949"/>
              <a:ext cx="78662" cy="96164"/>
            </a:xfrm>
            <a:prstGeom prst="ellipse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16" name="Oval 88"/>
            <p:cNvSpPr>
              <a:spLocks noChangeArrowheads="1"/>
            </p:cNvSpPr>
            <p:nvPr/>
          </p:nvSpPr>
          <p:spPr bwMode="auto">
            <a:xfrm>
              <a:off x="1066800" y="2511882"/>
              <a:ext cx="78662" cy="96164"/>
            </a:xfrm>
            <a:prstGeom prst="ellipse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17" name="Oval 88"/>
            <p:cNvSpPr>
              <a:spLocks noChangeArrowheads="1"/>
            </p:cNvSpPr>
            <p:nvPr/>
          </p:nvSpPr>
          <p:spPr bwMode="auto">
            <a:xfrm>
              <a:off x="1289936" y="2424497"/>
              <a:ext cx="78662" cy="96164"/>
            </a:xfrm>
            <a:prstGeom prst="ellipse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18" name="Oval 88"/>
            <p:cNvSpPr>
              <a:spLocks noChangeArrowheads="1"/>
            </p:cNvSpPr>
            <p:nvPr/>
          </p:nvSpPr>
          <p:spPr bwMode="auto">
            <a:xfrm>
              <a:off x="1371600" y="2816682"/>
              <a:ext cx="78662" cy="96164"/>
            </a:xfrm>
            <a:prstGeom prst="ellipse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19" name="Oval 88"/>
            <p:cNvSpPr>
              <a:spLocks noChangeArrowheads="1"/>
            </p:cNvSpPr>
            <p:nvPr/>
          </p:nvSpPr>
          <p:spPr bwMode="auto">
            <a:xfrm>
              <a:off x="1524000" y="2969082"/>
              <a:ext cx="78662" cy="96164"/>
            </a:xfrm>
            <a:prstGeom prst="ellipse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20" name="Oval 88"/>
            <p:cNvSpPr>
              <a:spLocks noChangeArrowheads="1"/>
            </p:cNvSpPr>
            <p:nvPr/>
          </p:nvSpPr>
          <p:spPr bwMode="auto">
            <a:xfrm>
              <a:off x="824269" y="2662190"/>
              <a:ext cx="78662" cy="96164"/>
            </a:xfrm>
            <a:prstGeom prst="ellipse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21" name="Oval 88"/>
            <p:cNvSpPr>
              <a:spLocks noChangeArrowheads="1"/>
            </p:cNvSpPr>
            <p:nvPr/>
          </p:nvSpPr>
          <p:spPr bwMode="auto">
            <a:xfrm>
              <a:off x="1371600" y="2816682"/>
              <a:ext cx="78662" cy="96164"/>
            </a:xfrm>
            <a:prstGeom prst="ellipse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22" name="Oval 88"/>
            <p:cNvSpPr>
              <a:spLocks noChangeArrowheads="1"/>
            </p:cNvSpPr>
            <p:nvPr/>
          </p:nvSpPr>
          <p:spPr bwMode="auto">
            <a:xfrm>
              <a:off x="1145462" y="2921000"/>
              <a:ext cx="78662" cy="96164"/>
            </a:xfrm>
            <a:prstGeom prst="ellipse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23" name="Oval 88"/>
            <p:cNvSpPr>
              <a:spLocks noChangeArrowheads="1"/>
            </p:cNvSpPr>
            <p:nvPr/>
          </p:nvSpPr>
          <p:spPr bwMode="auto">
            <a:xfrm>
              <a:off x="2635055" y="1786155"/>
              <a:ext cx="78662" cy="96164"/>
            </a:xfrm>
            <a:prstGeom prst="ellipse">
              <a:avLst/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24" name="Oval 88"/>
            <p:cNvSpPr>
              <a:spLocks noChangeArrowheads="1"/>
            </p:cNvSpPr>
            <p:nvPr/>
          </p:nvSpPr>
          <p:spPr bwMode="auto">
            <a:xfrm>
              <a:off x="2771062" y="2032313"/>
              <a:ext cx="78662" cy="96164"/>
            </a:xfrm>
            <a:prstGeom prst="ellipse">
              <a:avLst/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25" name="Oval 88"/>
            <p:cNvSpPr>
              <a:spLocks noChangeArrowheads="1"/>
            </p:cNvSpPr>
            <p:nvPr/>
          </p:nvSpPr>
          <p:spPr bwMode="auto">
            <a:xfrm>
              <a:off x="2849724" y="1786155"/>
              <a:ext cx="78662" cy="96164"/>
            </a:xfrm>
            <a:prstGeom prst="ellipse">
              <a:avLst/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26" name="Oval 88"/>
            <p:cNvSpPr>
              <a:spLocks noChangeArrowheads="1"/>
            </p:cNvSpPr>
            <p:nvPr/>
          </p:nvSpPr>
          <p:spPr bwMode="auto">
            <a:xfrm>
              <a:off x="3161069" y="1882319"/>
              <a:ext cx="78662" cy="96164"/>
            </a:xfrm>
            <a:prstGeom prst="ellipse">
              <a:avLst/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27" name="Oval 88"/>
            <p:cNvSpPr>
              <a:spLocks noChangeArrowheads="1"/>
            </p:cNvSpPr>
            <p:nvPr/>
          </p:nvSpPr>
          <p:spPr bwMode="auto">
            <a:xfrm>
              <a:off x="3161069" y="2215549"/>
              <a:ext cx="78662" cy="96164"/>
            </a:xfrm>
            <a:prstGeom prst="ellipse">
              <a:avLst/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28" name="Oval 88"/>
            <p:cNvSpPr>
              <a:spLocks noChangeArrowheads="1"/>
            </p:cNvSpPr>
            <p:nvPr/>
          </p:nvSpPr>
          <p:spPr bwMode="auto">
            <a:xfrm>
              <a:off x="2987653" y="2359795"/>
              <a:ext cx="78662" cy="96164"/>
            </a:xfrm>
            <a:prstGeom prst="ellipse">
              <a:avLst/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29" name="Oval 88"/>
            <p:cNvSpPr>
              <a:spLocks noChangeArrowheads="1"/>
            </p:cNvSpPr>
            <p:nvPr/>
          </p:nvSpPr>
          <p:spPr bwMode="auto">
            <a:xfrm>
              <a:off x="2669462" y="2413313"/>
              <a:ext cx="78662" cy="96164"/>
            </a:xfrm>
            <a:prstGeom prst="ellipse">
              <a:avLst/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30" name="Oval 88"/>
            <p:cNvSpPr>
              <a:spLocks noChangeArrowheads="1"/>
            </p:cNvSpPr>
            <p:nvPr/>
          </p:nvSpPr>
          <p:spPr bwMode="auto">
            <a:xfrm>
              <a:off x="3352800" y="2424497"/>
              <a:ext cx="78662" cy="96164"/>
            </a:xfrm>
            <a:prstGeom prst="ellipse">
              <a:avLst/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31" name="Oval 88"/>
            <p:cNvSpPr>
              <a:spLocks noChangeArrowheads="1"/>
            </p:cNvSpPr>
            <p:nvPr/>
          </p:nvSpPr>
          <p:spPr bwMode="auto">
            <a:xfrm>
              <a:off x="2401531" y="1975139"/>
              <a:ext cx="78662" cy="96164"/>
            </a:xfrm>
            <a:prstGeom prst="ellipse">
              <a:avLst/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32" name="Oval 88"/>
            <p:cNvSpPr>
              <a:spLocks noChangeArrowheads="1"/>
            </p:cNvSpPr>
            <p:nvPr/>
          </p:nvSpPr>
          <p:spPr bwMode="auto">
            <a:xfrm>
              <a:off x="3468331" y="2661877"/>
              <a:ext cx="78662" cy="96164"/>
            </a:xfrm>
            <a:prstGeom prst="ellipse">
              <a:avLst/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33" name="Oval 88"/>
            <p:cNvSpPr>
              <a:spLocks noChangeArrowheads="1"/>
            </p:cNvSpPr>
            <p:nvPr/>
          </p:nvSpPr>
          <p:spPr bwMode="auto">
            <a:xfrm>
              <a:off x="3546993" y="2864764"/>
              <a:ext cx="78662" cy="96164"/>
            </a:xfrm>
            <a:prstGeom prst="ellipse">
              <a:avLst/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34" name="Oval 88"/>
            <p:cNvSpPr>
              <a:spLocks noChangeArrowheads="1"/>
            </p:cNvSpPr>
            <p:nvPr/>
          </p:nvSpPr>
          <p:spPr bwMode="auto">
            <a:xfrm>
              <a:off x="3140053" y="2512195"/>
              <a:ext cx="78662" cy="96164"/>
            </a:xfrm>
            <a:prstGeom prst="ellipse">
              <a:avLst/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35" name="Oval 88"/>
            <p:cNvSpPr>
              <a:spLocks noChangeArrowheads="1"/>
            </p:cNvSpPr>
            <p:nvPr/>
          </p:nvSpPr>
          <p:spPr bwMode="auto">
            <a:xfrm>
              <a:off x="3313469" y="2875949"/>
              <a:ext cx="78662" cy="96164"/>
            </a:xfrm>
            <a:prstGeom prst="ellipse">
              <a:avLst/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  <p:sp>
          <p:nvSpPr>
            <p:cNvPr id="36" name="Oval 88"/>
            <p:cNvSpPr>
              <a:spLocks noChangeArrowheads="1"/>
            </p:cNvSpPr>
            <p:nvPr/>
          </p:nvSpPr>
          <p:spPr bwMode="auto">
            <a:xfrm>
              <a:off x="2821862" y="2565713"/>
              <a:ext cx="78662" cy="96164"/>
            </a:xfrm>
            <a:prstGeom prst="ellipse">
              <a:avLst/>
            </a:prstGeom>
            <a:solidFill>
              <a:srgbClr val="007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 lIns="417992" tIns="208996" rIns="417992" bIns="208996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700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828CD9-26F5-4AC2-8105-A72D6E9F3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8950" y="1939159"/>
            <a:ext cx="5733470" cy="2751086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We’ll learn these and other machine learning methods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50130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594</Words>
  <Application>Microsoft Office PowerPoint</Application>
  <PresentationFormat>On-screen Show (4:3)</PresentationFormat>
  <Paragraphs>115</Paragraphs>
  <Slides>13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CMR17</vt:lpstr>
      <vt:lpstr>CMSY10</vt:lpstr>
      <vt:lpstr>Times New Roman</vt:lpstr>
      <vt:lpstr>Office Theme</vt:lpstr>
      <vt:lpstr>Chart</vt:lpstr>
      <vt:lpstr>MS Org Chart</vt:lpstr>
      <vt:lpstr>Basic Intro Tutorial on  Machine Learning  and Data Mining</vt:lpstr>
      <vt:lpstr>Reminder: What is AI?</vt:lpstr>
      <vt:lpstr>WHAT IS AI? (Cont.) </vt:lpstr>
      <vt:lpstr>What is AI? (cont.)</vt:lpstr>
      <vt:lpstr>What is Machine Learning?</vt:lpstr>
      <vt:lpstr>Supervised  vs. Unsupervised Learning                       (e.g., automatic face recognition “doorman” ) </vt:lpstr>
      <vt:lpstr>How to provide “experience”?</vt:lpstr>
      <vt:lpstr>What do you want to learn from your data?</vt:lpstr>
      <vt:lpstr>Decision Trees</vt:lpstr>
      <vt:lpstr>Artificial Neural Networks (ANNs)</vt:lpstr>
      <vt:lpstr>Bayesian Networks</vt:lpstr>
      <vt:lpstr>Support Vector Machines (SVMs)</vt:lpstr>
      <vt:lpstr>We’ll learn these and other machine learning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Intro Tutorial on  Machine Learning  and Data Mining</dc:title>
  <dc:creator>Ruiz, Carolina</dc:creator>
  <cp:lastModifiedBy>Ruiz, Carolina</cp:lastModifiedBy>
  <cp:revision>4</cp:revision>
  <dcterms:created xsi:type="dcterms:W3CDTF">2020-09-28T22:49:43Z</dcterms:created>
  <dcterms:modified xsi:type="dcterms:W3CDTF">2020-09-28T23:00:19Z</dcterms:modified>
</cp:coreProperties>
</file>